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3"/>
  </p:notesMasterIdLst>
  <p:sldIdLst>
    <p:sldId id="256" r:id="rId2"/>
    <p:sldId id="269" r:id="rId3"/>
    <p:sldId id="257" r:id="rId4"/>
    <p:sldId id="274" r:id="rId5"/>
    <p:sldId id="275" r:id="rId6"/>
    <p:sldId id="273" r:id="rId7"/>
    <p:sldId id="272" r:id="rId8"/>
    <p:sldId id="268" r:id="rId9"/>
    <p:sldId id="270" r:id="rId10"/>
    <p:sldId id="265" r:id="rId11"/>
    <p:sldId id="266" r:id="rId1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65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notesMaster" Target="notesMasters/notesMaster1.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tableStyles" Target="tableStyles.xml" /><Relationship Id="rId2" Type="http://schemas.openxmlformats.org/officeDocument/2006/relationships/slide" Target="slides/slide1.xml" /><Relationship Id="rId16" Type="http://schemas.openxmlformats.org/officeDocument/2006/relationships/theme" Target="theme/them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viewProps" Target="viewProps.xml" /><Relationship Id="rId10" Type="http://schemas.openxmlformats.org/officeDocument/2006/relationships/slide" Target="slides/slide9.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presProps" Target="pres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939560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8305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36789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image" Target="../media/image1.png"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 /><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 /><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notesSlide" Target="../notesSlides/notesSlide10.xml"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lvl="0" algn="ctr" rtl="0">
              <a:spcBef>
                <a:spcPts val="0"/>
              </a:spcBef>
              <a:spcAft>
                <a:spcPts val="0"/>
              </a:spcAft>
              <a:buClr>
                <a:srgbClr val="17365D"/>
              </a:buClr>
              <a:buSzPts val="2800"/>
            </a:pPr>
            <a:r>
              <a:rPr lang="en-GB" sz="2400" dirty="0">
                <a:solidFill>
                  <a:schemeClr val="tx1"/>
                </a:solidFill>
                <a:latin typeface="Cambria" panose="02040503050406030204" pitchFamily="18" charset="0"/>
                <a:ea typeface="Cambria" panose="02040503050406030204" pitchFamily="18" charset="0"/>
              </a:rPr>
              <a:t>Use of Digital Technology to calculate water footprints
for different daily use items</a:t>
            </a:r>
            <a:endParaRPr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 IST_27</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fontScale="92500" lnSpcReduction="20000"/>
          </a:bodyPr>
          <a:lstStyle/>
          <a:p>
            <a:pPr marL="0" marR="0" lvl="0" indent="0" algn="ctr" rtl="0">
              <a:spcBef>
                <a:spcPts val="0"/>
              </a:spcBef>
              <a:spcAft>
                <a:spcPts val="0"/>
              </a:spcAft>
              <a:buClr>
                <a:srgbClr val="17365D"/>
              </a:buClr>
              <a:buSzPts val="2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sz="1800"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Dr./Mr./Ms./Prof.</a:t>
            </a:r>
            <a:r>
              <a:rPr lang="en-GB" sz="1700" b="1" dirty="0">
                <a:solidFill>
                  <a:srgbClr val="17365D"/>
                </a:solidFill>
                <a:latin typeface="Cambria" panose="02040503050406030204" pitchFamily="18" charset="0"/>
                <a:ea typeface="Cambria" panose="02040503050406030204" pitchFamily="18" charset="0"/>
                <a:cs typeface="Verdana"/>
                <a:sym typeface="Verdana"/>
              </a:rPr>
              <a:t>  </a:t>
            </a:r>
            <a:r>
              <a:rPr lang="en-GB" sz="1700" b="1" dirty="0">
                <a:solidFill>
                  <a:schemeClr val="tx1"/>
                </a:solidFill>
                <a:latin typeface="Cambria" panose="02040503050406030204" pitchFamily="18" charset="0"/>
                <a:ea typeface="Cambria" panose="02040503050406030204" pitchFamily="18" charset="0"/>
                <a:cs typeface="Verdana"/>
                <a:sym typeface="Verdana"/>
              </a:rPr>
              <a:t>Mr.Saptarsi Sanyal</a:t>
            </a:r>
          </a:p>
          <a:p>
            <a:pPr marL="0" marR="0" lvl="0" indent="0" algn="l" rtl="0">
              <a:spcBef>
                <a:spcPts val="340"/>
              </a:spcBef>
              <a:spcAft>
                <a:spcPts val="0"/>
              </a:spcAft>
              <a:buClr>
                <a:srgbClr val="17365D"/>
              </a:buClr>
              <a:buSzPts val="1700"/>
              <a:buFont typeface="Arial"/>
              <a:buNone/>
            </a:pPr>
            <a:r>
              <a:rPr lang="en-GB" sz="1700" b="1" dirty="0">
                <a:solidFill>
                  <a:schemeClr val="tx1"/>
                </a:solidFill>
                <a:latin typeface="Cambria" panose="02040503050406030204" pitchFamily="18" charset="0"/>
                <a:ea typeface="Cambria" panose="02040503050406030204" pitchFamily="18" charset="0"/>
                <a:cs typeface="Verdana"/>
                <a:sym typeface="Verdana"/>
              </a:rPr>
              <a:t>                                       MS.Monisha Gupta</a:t>
            </a:r>
          </a:p>
          <a:p>
            <a:pPr marL="0" marR="0" lvl="0" indent="0" algn="l" rtl="0">
              <a:spcBef>
                <a:spcPts val="340"/>
              </a:spcBef>
              <a:spcAft>
                <a:spcPts val="0"/>
              </a:spcAft>
              <a:buClr>
                <a:srgbClr val="17365D"/>
              </a:buClr>
              <a:buSzPts val="1700"/>
              <a:buFont typeface="Arial"/>
              <a:buNone/>
            </a:pPr>
            <a:endParaRPr b="1"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Professor / Associate Professor / Assistant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3767234204"/>
              </p:ext>
            </p:extLst>
          </p:nvPr>
        </p:nvGraphicFramePr>
        <p:xfrm>
          <a:off x="553347" y="2721840"/>
          <a:ext cx="5418675" cy="219462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06243">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6243">
                <a:tc>
                  <a:txBody>
                    <a:bodyPr/>
                    <a:lstStyle/>
                    <a:p>
                      <a:pPr marL="0" marR="0" lvl="0" indent="0" algn="ctr" rtl="0">
                        <a:spcBef>
                          <a:spcPts val="0"/>
                        </a:spcBef>
                        <a:spcAft>
                          <a:spcPts val="0"/>
                        </a:spcAft>
                        <a:buFont typeface="+mj-lt"/>
                        <a:buNone/>
                      </a:pPr>
                      <a:r>
                        <a:rPr lang="en-GB" sz="1800" b="1" u="none" strike="noStrike" cap="none" dirty="0"/>
                        <a:t>2O221IST0017</a:t>
                      </a:r>
                      <a:endParaRPr sz="1800" b="1"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t>Bolla Sagarika </a:t>
                      </a:r>
                      <a:endParaRPr sz="1800" b="1"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6243">
                <a:tc>
                  <a:txBody>
                    <a:bodyPr/>
                    <a:lstStyle/>
                    <a:p>
                      <a:pPr marL="0" marR="0" lvl="0" indent="0" algn="ctr" rtl="0">
                        <a:spcBef>
                          <a:spcPts val="0"/>
                        </a:spcBef>
                        <a:spcAft>
                          <a:spcPts val="0"/>
                        </a:spcAft>
                        <a:buNone/>
                      </a:pPr>
                      <a:r>
                        <a:rPr lang="en-GB" sz="1800" b="1" u="none" strike="noStrike" cap="none" dirty="0"/>
                        <a:t>20221IST0002</a:t>
                      </a:r>
                      <a:endParaRPr sz="1800" b="1"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t>Gandavaram Sravanthi </a:t>
                      </a:r>
                      <a:endParaRPr sz="1800" b="1"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6243">
                <a:tc>
                  <a:txBody>
                    <a:bodyPr/>
                    <a:lstStyle/>
                    <a:p>
                      <a:pPr marL="0" marR="0" lvl="0" indent="0" algn="ctr" rtl="0">
                        <a:spcBef>
                          <a:spcPts val="0"/>
                        </a:spcBef>
                        <a:spcAft>
                          <a:spcPts val="0"/>
                        </a:spcAft>
                        <a:buNone/>
                      </a:pPr>
                      <a:r>
                        <a:rPr lang="en-GB" sz="1800" b="1" u="none" strike="noStrike" cap="none" dirty="0"/>
                        <a:t>20221IST0003</a:t>
                      </a:r>
                      <a:endParaRPr sz="1800" b="1"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t>Bathina Mounika</a:t>
                      </a:r>
                      <a:endParaRPr sz="1800" b="1"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dirty="0">
                <a:solidFill>
                  <a:srgbClr val="17365D"/>
                </a:solidFill>
                <a:latin typeface="Cambria" panose="02040503050406030204" pitchFamily="18" charset="0"/>
                <a:ea typeface="Cambria" panose="02040503050406030204" pitchFamily="18" charset="0"/>
                <a:cs typeface="Verdana"/>
                <a:sym typeface="Verdana"/>
              </a:rPr>
              <a:t>CSE7101-</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Capstone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Review-1</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GB" sz="1800" b="1" dirty="0">
                <a:solidFill>
                  <a:schemeClr val="accent1"/>
                </a:solidFill>
                <a:latin typeface="Cambria" panose="02040503050406030204" pitchFamily="18" charset="0"/>
                <a:ea typeface="Cambria" panose="02040503050406030204" pitchFamily="18" charset="0"/>
                <a:cs typeface="Verdana"/>
                <a:sym typeface="Verdana"/>
              </a:rPr>
              <a:t> </a:t>
            </a:r>
            <a:r>
              <a:rPr lang="en-GB" sz="1800" b="1" dirty="0">
                <a:solidFill>
                  <a:schemeClr val="tx1"/>
                </a:solidFill>
                <a:latin typeface="Cambria" panose="02040503050406030204" pitchFamily="18" charset="0"/>
                <a:ea typeface="Cambria" panose="02040503050406030204" pitchFamily="18" charset="0"/>
                <a:cs typeface="Verdana"/>
                <a:sym typeface="Verdana"/>
              </a:rPr>
              <a:t>IST</a:t>
            </a:r>
            <a:endPar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endParaRPr>
          </a:p>
          <a:p>
            <a:pPr marL="0" marR="0" lvl="0" indent="0" rtl="0">
              <a:spcBef>
                <a:spcPts val="0"/>
              </a:spcBef>
              <a:spcAft>
                <a:spcPts val="0"/>
              </a:spcAft>
              <a:buClr>
                <a:srgbClr val="17365D"/>
              </a:buClr>
              <a:buSzPct val="100000"/>
              <a:buFont typeface="Arial"/>
              <a:buNone/>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GB" sz="1800" b="1" dirty="0">
                <a:solidFill>
                  <a:srgbClr val="FF0000"/>
                </a:solidFill>
                <a:latin typeface="Cambria" panose="02040503050406030204" pitchFamily="18" charset="0"/>
                <a:ea typeface="Cambria" panose="02040503050406030204" pitchFamily="18" charset="0"/>
                <a:cs typeface="Verdana"/>
                <a:sym typeface="Verdana"/>
              </a:rPr>
              <a:t> </a:t>
            </a:r>
            <a:r>
              <a:rPr lang="en-GB" sz="1800" b="1" dirty="0" err="1">
                <a:solidFill>
                  <a:srgbClr val="FF0000"/>
                </a:solidFill>
                <a:latin typeface="Cambria" panose="02040503050406030204" pitchFamily="18" charset="0"/>
                <a:ea typeface="Cambria" panose="02040503050406030204" pitchFamily="18" charset="0"/>
                <a:cs typeface="Verdana"/>
                <a:sym typeface="Verdana"/>
              </a:rPr>
              <a:t>Dr.</a:t>
            </a:r>
            <a:r>
              <a:rPr lang="en-GB" sz="1800" b="1" dirty="0">
                <a:solidFill>
                  <a:srgbClr val="FF0000"/>
                </a:solidFill>
                <a:latin typeface="Cambria" panose="02040503050406030204" pitchFamily="18" charset="0"/>
                <a:ea typeface="Cambria" panose="02040503050406030204" pitchFamily="18" charset="0"/>
                <a:cs typeface="Verdana"/>
                <a:sym typeface="Verdana"/>
              </a:rPr>
              <a:t> Pallavi R</a:t>
            </a:r>
            <a:endParaRPr lang="en-US" sz="1800" b="1" dirty="0">
              <a:solidFill>
                <a:srgbClr val="FF0000"/>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GB" sz="1800" b="1" dirty="0">
                <a:solidFill>
                  <a:srgbClr val="FF0000"/>
                </a:solidFill>
                <a:latin typeface="Cambria" panose="02040503050406030204" pitchFamily="18" charset="0"/>
                <a:ea typeface="Cambria" panose="02040503050406030204" pitchFamily="18" charset="0"/>
                <a:cs typeface="Verdana"/>
                <a:sym typeface="Verdana"/>
              </a:rPr>
              <a:t>Dr.Afroz Pasha</a:t>
            </a:r>
            <a:endParaRPr lang="en-US" sz="1800" b="1" dirty="0">
              <a:solidFill>
                <a:srgbClr val="FF0000"/>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Sampath A K , Dr. </a:t>
            </a:r>
            <a:r>
              <a:rPr lang="en-GB" sz="1800" b="1" dirty="0">
                <a:solidFill>
                  <a:schemeClr val="tx1"/>
                </a:solidFill>
                <a:latin typeface="Cambria" panose="02040503050406030204" pitchFamily="18" charset="0"/>
                <a:ea typeface="Cambria" panose="02040503050406030204" pitchFamily="18" charset="0"/>
                <a:cs typeface="Verdana"/>
                <a:sym typeface="Verdana"/>
              </a:rPr>
              <a:t>G</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eetha A </a:t>
            </a:r>
            <a:endParaRPr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Problem Statement Number: </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fontScale="92500" lnSpcReduction="10000"/>
          </a:bodyPr>
          <a:lstStyle/>
          <a:p>
            <a:pPr marL="342900" lvl="0" indent="-190500" algn="just">
              <a:spcBef>
                <a:spcPts val="0"/>
              </a:spcBef>
              <a:buNone/>
            </a:pPr>
            <a:r>
              <a:rPr lang="en-US" b="1" dirty="0">
                <a:latin typeface="Cambria" panose="02040503050406030204" pitchFamily="18" charset="0"/>
                <a:ea typeface="Cambria" panose="02040503050406030204" pitchFamily="18" charset="0"/>
              </a:rPr>
              <a:t>Organization: </a:t>
            </a:r>
            <a:r>
              <a:rPr lang="en-GB" b="1" dirty="0">
                <a:latin typeface="Cambria" panose="02040503050406030204" pitchFamily="18" charset="0"/>
                <a:ea typeface="Cambria" panose="02040503050406030204" pitchFamily="18" charset="0"/>
              </a:rPr>
              <a:t> </a:t>
            </a:r>
            <a:r>
              <a:rPr lang="en-GB" dirty="0">
                <a:latin typeface="Cambria" panose="02040503050406030204" pitchFamily="18" charset="0"/>
                <a:ea typeface="Cambria" panose="02040503050406030204" pitchFamily="18" charset="0"/>
              </a:rPr>
              <a:t>Aiming to create impactful digital solutions that contribute to sustainable development goals, specifically addressing global water conservation issues.</a:t>
            </a:r>
            <a:endParaRPr lang="en-US" dirty="0">
              <a:latin typeface="Cambria" panose="02040503050406030204" pitchFamily="18" charset="0"/>
              <a:ea typeface="Cambria" panose="02040503050406030204" pitchFamily="18" charset="0"/>
            </a:endParaRPr>
          </a:p>
          <a:p>
            <a:pPr marL="342900" lvl="0" indent="-190500" algn="just">
              <a:lnSpc>
                <a:spcPct val="200000"/>
              </a:lnSpc>
              <a:spcBef>
                <a:spcPts val="0"/>
              </a:spcBef>
              <a:buNone/>
            </a:pPr>
            <a:r>
              <a:rPr lang="en-US" b="1" dirty="0">
                <a:latin typeface="Cambria" panose="02040503050406030204" pitchFamily="18" charset="0"/>
                <a:ea typeface="Cambria" panose="02040503050406030204" pitchFamily="18" charset="0"/>
              </a:rPr>
              <a:t>Category</a:t>
            </a:r>
            <a:r>
              <a:rPr lang="en-GB" b="1" dirty="0">
                <a:latin typeface="Cambria" panose="02040503050406030204" pitchFamily="18" charset="0"/>
                <a:ea typeface="Cambria" panose="02040503050406030204" pitchFamily="18" charset="0"/>
              </a:rPr>
              <a:t>:</a:t>
            </a:r>
            <a:r>
              <a:rPr lang="en-US" dirty="0">
                <a:latin typeface="Cambria" panose="02040503050406030204" pitchFamily="18" charset="0"/>
                <a:ea typeface="Cambria" panose="02040503050406030204" pitchFamily="18" charset="0"/>
              </a:rPr>
              <a:t> </a:t>
            </a:r>
            <a:r>
              <a:rPr lang="en-GB" dirty="0">
                <a:latin typeface="Cambria" panose="02040503050406030204" pitchFamily="18" charset="0"/>
                <a:ea typeface="Cambria" panose="02040503050406030204" pitchFamily="18" charset="0"/>
              </a:rPr>
              <a:t> Software – Web-based  learning platform </a:t>
            </a:r>
            <a:endParaRPr lang="en-US" dirty="0">
              <a:latin typeface="Cambria" panose="02040503050406030204" pitchFamily="18" charset="0"/>
              <a:ea typeface="Cambria" panose="02040503050406030204" pitchFamily="18" charset="0"/>
            </a:endParaRPr>
          </a:p>
          <a:p>
            <a:pPr marL="342900" lvl="0" indent="-190500" algn="just">
              <a:lnSpc>
                <a:spcPct val="200000"/>
              </a:lnSpc>
              <a:spcBef>
                <a:spcPts val="0"/>
              </a:spcBef>
              <a:buNone/>
            </a:pPr>
            <a:r>
              <a:rPr lang="en-US" b="1" dirty="0">
                <a:latin typeface="Cambria" panose="02040503050406030204" pitchFamily="18" charset="0"/>
                <a:ea typeface="Cambria" panose="02040503050406030204" pitchFamily="18" charset="0"/>
              </a:rPr>
              <a:t>Problem Description:</a:t>
            </a:r>
            <a:r>
              <a:rPr lang="en-GB" b="1" dirty="0">
                <a:latin typeface="Cambria" panose="02040503050406030204" pitchFamily="18" charset="0"/>
                <a:ea typeface="Cambria" panose="02040503050406030204" pitchFamily="18" charset="0"/>
              </a:rPr>
              <a:t> </a:t>
            </a:r>
            <a:r>
              <a:rPr lang="en-GB" dirty="0">
                <a:latin typeface="Cambria" panose="02040503050406030204" pitchFamily="18" charset="0"/>
                <a:ea typeface="Cambria" panose="02040503050406030204" pitchFamily="18" charset="0"/>
              </a:rPr>
              <a:t>Water scarcity is a growing global concern, affecting billions of people annually. A significant share of water consumption is hidden in the production of goods (water footprint).</a:t>
            </a:r>
          </a:p>
          <a:p>
            <a:pPr marL="342900" lvl="0" indent="-190500" algn="just">
              <a:lnSpc>
                <a:spcPct val="200000"/>
              </a:lnSpc>
              <a:spcBef>
                <a:spcPts val="0"/>
              </a:spcBef>
              <a:buNone/>
            </a:pPr>
            <a:r>
              <a:rPr lang="en-GB" dirty="0">
                <a:latin typeface="Cambria" panose="02040503050406030204" pitchFamily="18" charset="0"/>
                <a:ea typeface="Cambria" panose="02040503050406030204" pitchFamily="18" charset="0"/>
              </a:rPr>
              <a:t>The solution will help individuals, organizations, and policymakers:
Identify hidden water usage.</a:t>
            </a: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143451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PROBLEM STATEMENT </a:t>
            </a:r>
            <a:endParaRPr dirty="0">
              <a:latin typeface="Cambria" panose="02040503050406030204" pitchFamily="18" charset="0"/>
              <a:ea typeface="Cambria" panose="02040503050406030204" pitchFamily="18" charset="0"/>
            </a:endParaRPr>
          </a:p>
        </p:txBody>
      </p:sp>
      <p:sp>
        <p:nvSpPr>
          <p:cNvPr id="3" name="Text Placeholder 2">
            <a:extLst>
              <a:ext uri="{FF2B5EF4-FFF2-40B4-BE49-F238E27FC236}">
                <a16:creationId xmlns:a16="http://schemas.microsoft.com/office/drawing/2014/main" id="{A6481536-187F-7078-C455-82DA79B00058}"/>
              </a:ext>
            </a:extLst>
          </p:cNvPr>
          <p:cNvSpPr>
            <a:spLocks noGrp="1"/>
          </p:cNvSpPr>
          <p:nvPr>
            <p:ph type="body" idx="1"/>
          </p:nvPr>
        </p:nvSpPr>
        <p:spPr/>
        <p:txBody>
          <a:bodyPr>
            <a:normAutofit fontScale="55000" lnSpcReduction="20000"/>
          </a:bodyPr>
          <a:lstStyle/>
          <a:p>
            <a:pPr marL="76200" indent="0">
              <a:buNone/>
            </a:pPr>
            <a:r>
              <a:rPr lang="en-GB" dirty="0"/>
              <a:t>Water scarcity is increasing due to population growth, climate change, and unsustainable consumption patterns.
A large portion of freshwater is consumed indirectly through the production of everyday goods (water footprint).
Public awareness about the water footprint of daily items is very low.
Traditional calculation methods are:
Manual and time-consuming.
Scattered across multiple sources.
Not easily accessible to common users.
There is a need for a digital, efficient, and user-friendly system to:
Accurately estimate the water footprint of various daily use items.
Account for regional and production variations.
Present data in a way that supports informed decision-making.</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 OBJECTIVES:</a:t>
            </a:r>
            <a:endParaRPr dirty="0">
              <a:latin typeface="Cambria" panose="02040503050406030204" pitchFamily="18" charset="0"/>
              <a:ea typeface="Cambria" panose="02040503050406030204" pitchFamily="18" charset="0"/>
            </a:endParaRPr>
          </a:p>
        </p:txBody>
      </p:sp>
      <p:sp>
        <p:nvSpPr>
          <p:cNvPr id="3" name="Text Placeholder 2">
            <a:extLst>
              <a:ext uri="{FF2B5EF4-FFF2-40B4-BE49-F238E27FC236}">
                <a16:creationId xmlns:a16="http://schemas.microsoft.com/office/drawing/2014/main" id="{220D7334-4D48-7296-6C1A-6C9528D5876D}"/>
              </a:ext>
            </a:extLst>
          </p:cNvPr>
          <p:cNvSpPr>
            <a:spLocks noGrp="1"/>
          </p:cNvSpPr>
          <p:nvPr>
            <p:ph type="body" idx="1"/>
          </p:nvPr>
        </p:nvSpPr>
        <p:spPr/>
        <p:txBody>
          <a:bodyPr>
            <a:normAutofit/>
          </a:bodyPr>
          <a:lstStyle/>
          <a:p>
            <a:r>
              <a:rPr lang="en-GB" dirty="0"/>
              <a:t>Develop a digital solution to estimate the water footprint of various daily use items with high accuracy.
Integrate relevant datasets (e.g., production processes, regional water usage statistics) into a centralized system for footprint calculation.
Design a user-friendly interface that allows individuals and organizations to easily input items and receive water footprint results.
Increase awareness about the hidden water usage in everyday products through interactive visualizations and reports.
Support sustainable decision-making by providing actionable insights to reduce water consumption.</a:t>
            </a:r>
            <a:endParaRPr lang="en-US" dirty="0"/>
          </a:p>
        </p:txBody>
      </p:sp>
    </p:spTree>
    <p:extLst>
      <p:ext uri="{BB962C8B-B14F-4D97-AF65-F5344CB8AC3E}">
        <p14:creationId xmlns:p14="http://schemas.microsoft.com/office/powerpoint/2010/main" val="26379795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9B018-40CD-2D0F-B49A-3051516A7D8D}"/>
              </a:ext>
            </a:extLst>
          </p:cNvPr>
          <p:cNvSpPr>
            <a:spLocks noGrp="1"/>
          </p:cNvSpPr>
          <p:nvPr>
            <p:ph type="title"/>
          </p:nvPr>
        </p:nvSpPr>
        <p:spPr/>
        <p:txBody>
          <a:bodyPr/>
          <a:lstStyle/>
          <a:p>
            <a:r>
              <a:rPr lang="en-GB" dirty="0"/>
              <a:t>Background and Related work for tittle Selection:</a:t>
            </a:r>
            <a:endParaRPr lang="en-US" dirty="0"/>
          </a:p>
        </p:txBody>
      </p:sp>
      <p:sp>
        <p:nvSpPr>
          <p:cNvPr id="3" name="Text Placeholder 2">
            <a:extLst>
              <a:ext uri="{FF2B5EF4-FFF2-40B4-BE49-F238E27FC236}">
                <a16:creationId xmlns:a16="http://schemas.microsoft.com/office/drawing/2014/main" id="{3D9A8C96-A399-6951-F1D8-5A9DE2677FE7}"/>
              </a:ext>
            </a:extLst>
          </p:cNvPr>
          <p:cNvSpPr>
            <a:spLocks noGrp="1"/>
          </p:cNvSpPr>
          <p:nvPr>
            <p:ph type="body" idx="1"/>
          </p:nvPr>
        </p:nvSpPr>
        <p:spPr/>
        <p:txBody>
          <a:bodyPr>
            <a:normAutofit fontScale="85000" lnSpcReduction="10000"/>
          </a:bodyPr>
          <a:lstStyle/>
          <a:p>
            <a:r>
              <a:rPr lang="en-GB" dirty="0"/>
              <a:t>Freshwater is a finite resource, with only about 2.5% of Earth’s total water being available for human use. A large proportion of this is consumed indirectly through the production of goods, referred to as the water footprint. According to UNESCO and Water Footprint Network studies, the production of common daily items—such as clothing, food, and electronics—can require thousands of liters of water.
</a:t>
            </a:r>
            <a:r>
              <a:rPr lang="en-GB" b="1" dirty="0"/>
              <a:t>Existing water footprint calculation methods</a:t>
            </a:r>
            <a:r>
              <a:rPr lang="en-GB" dirty="0"/>
              <a:t> </a:t>
            </a:r>
            <a:r>
              <a:rPr lang="en-GB" b="1" dirty="0"/>
              <a:t>are</a:t>
            </a:r>
            <a:r>
              <a:rPr lang="en-GB" dirty="0"/>
              <a:t> </a:t>
            </a:r>
            <a:r>
              <a:rPr lang="en-GB" b="1" dirty="0"/>
              <a:t>often</a:t>
            </a:r>
            <a:r>
              <a:rPr lang="en-GB" dirty="0"/>
              <a:t>:
Manual and time-consuming – requiring extensive research into production chains.
Lacking accessibility – technical data is not easily available to the general public.
Regionally inconsistent – variations in agricultural and industrial water usage are not always considered.
Previous works, such as the Water Footprint Calculator by the Water Footprint  and mobile apps for carbon footprint estimation, have shown that digital platforms can successfully raise awareness and encourage behavioral change.</a:t>
            </a:r>
            <a:endParaRPr lang="en-US" dirty="0"/>
          </a:p>
        </p:txBody>
      </p:sp>
    </p:spTree>
    <p:extLst>
      <p:ext uri="{BB962C8B-B14F-4D97-AF65-F5344CB8AC3E}">
        <p14:creationId xmlns:p14="http://schemas.microsoft.com/office/powerpoint/2010/main" val="35551405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fontScale="62500" lnSpcReduction="20000"/>
          </a:bodyPr>
          <a:lstStyle/>
          <a:p>
            <a:pPr marL="342900" lvl="0" indent="-190500" algn="just" rtl="0">
              <a:spcBef>
                <a:spcPts val="0"/>
              </a:spcBef>
              <a:spcAft>
                <a:spcPts val="0"/>
              </a:spcAft>
              <a:buClr>
                <a:schemeClr val="dk1"/>
              </a:buClr>
              <a:buSzPct val="100000"/>
              <a:buNone/>
            </a:pPr>
            <a:r>
              <a:rPr lang="en-US" b="1" dirty="0">
                <a:latin typeface="Cambria" panose="02040503050406030204" pitchFamily="18" charset="0"/>
                <a:ea typeface="Cambria" panose="02040503050406030204" pitchFamily="18" charset="0"/>
              </a:rPr>
              <a:t>Technology Stack Components</a:t>
            </a:r>
            <a:endParaRPr lang="en-GB" b="1"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GB" dirty="0">
              <a:latin typeface="Cambria" panose="02040503050406030204" pitchFamily="18" charset="0"/>
              <a:ea typeface="Cambria" panose="02040503050406030204" pitchFamily="18" charset="0"/>
            </a:endParaRPr>
          </a:p>
          <a:p>
            <a:pPr marL="152400" lvl="0" indent="0" algn="just" rtl="0">
              <a:spcBef>
                <a:spcPts val="0"/>
              </a:spcBef>
              <a:spcAft>
                <a:spcPts val="0"/>
              </a:spcAft>
              <a:buClr>
                <a:schemeClr val="dk1"/>
              </a:buClr>
              <a:buSzPct val="100000"/>
              <a:buNone/>
            </a:pPr>
            <a:r>
              <a:rPr lang="en-GB" b="1" dirty="0">
                <a:latin typeface="Cambria" panose="02040503050406030204" pitchFamily="18" charset="0"/>
                <a:ea typeface="Cambria" panose="02040503050406030204" pitchFamily="18" charset="0"/>
              </a:rPr>
              <a:t>1.</a:t>
            </a:r>
            <a:r>
              <a:rPr lang="en-GB" dirty="0">
                <a:latin typeface="Cambria" panose="02040503050406030204" pitchFamily="18" charset="0"/>
                <a:ea typeface="Cambria" panose="02040503050406030204" pitchFamily="18" charset="0"/>
              </a:rPr>
              <a:t> </a:t>
            </a:r>
            <a:r>
              <a:rPr lang="en-GB" b="1" dirty="0">
                <a:latin typeface="Cambria" panose="02040503050406030204" pitchFamily="18" charset="0"/>
                <a:ea typeface="Cambria" panose="02040503050406030204" pitchFamily="18" charset="0"/>
              </a:rPr>
              <a:t>Data</a:t>
            </a:r>
            <a:r>
              <a:rPr lang="en-GB" dirty="0">
                <a:latin typeface="Cambria" panose="02040503050406030204" pitchFamily="18" charset="0"/>
                <a:ea typeface="Cambria" panose="02040503050406030204" pitchFamily="18" charset="0"/>
              </a:rPr>
              <a:t> </a:t>
            </a:r>
            <a:r>
              <a:rPr lang="en-GB" b="1" dirty="0">
                <a:latin typeface="Cambria" panose="02040503050406030204" pitchFamily="18" charset="0"/>
                <a:ea typeface="Cambria" panose="02040503050406030204" pitchFamily="18" charset="0"/>
              </a:rPr>
              <a:t>Availability</a:t>
            </a:r>
            <a:r>
              <a:rPr lang="en-GB" dirty="0">
                <a:latin typeface="Cambria" panose="02040503050406030204" pitchFamily="18" charset="0"/>
                <a:ea typeface="Cambria" panose="02040503050406030204" pitchFamily="18" charset="0"/>
              </a:rPr>
              <a:t> </a:t>
            </a:r>
            <a:r>
              <a:rPr lang="en-GB" b="1" dirty="0">
                <a:latin typeface="Cambria" panose="02040503050406030204" pitchFamily="18" charset="0"/>
                <a:ea typeface="Cambria" panose="02040503050406030204" pitchFamily="18" charset="0"/>
              </a:rPr>
              <a:t>and</a:t>
            </a:r>
            <a:r>
              <a:rPr lang="en-GB" dirty="0">
                <a:latin typeface="Cambria" panose="02040503050406030204" pitchFamily="18" charset="0"/>
                <a:ea typeface="Cambria" panose="02040503050406030204" pitchFamily="18" charset="0"/>
              </a:rPr>
              <a:t> </a:t>
            </a:r>
            <a:r>
              <a:rPr lang="en-GB" b="1" dirty="0">
                <a:latin typeface="Cambria" panose="02040503050406030204" pitchFamily="18" charset="0"/>
                <a:ea typeface="Cambria" panose="02040503050406030204" pitchFamily="18" charset="0"/>
              </a:rPr>
              <a:t>Reliability</a:t>
            </a:r>
            <a:r>
              <a:rPr lang="en-GB" dirty="0">
                <a:latin typeface="Cambria" panose="02040503050406030204" pitchFamily="18" charset="0"/>
                <a:ea typeface="Cambria" panose="02040503050406030204" pitchFamily="18" charset="0"/>
              </a:rPr>
              <a:t>
Water usage data for various products is scattered across research papers, government databases, and industrial reports.
Data sources often differ in methodology, making it difficult to create a standardized model.
</a:t>
            </a:r>
            <a:r>
              <a:rPr lang="en-GB" b="1" dirty="0">
                <a:latin typeface="Cambria" panose="02040503050406030204" pitchFamily="18" charset="0"/>
                <a:ea typeface="Cambria" panose="02040503050406030204" pitchFamily="18" charset="0"/>
              </a:rPr>
              <a:t>
2. Regional</a:t>
            </a:r>
            <a:r>
              <a:rPr lang="en-GB" dirty="0">
                <a:latin typeface="Cambria" panose="02040503050406030204" pitchFamily="18" charset="0"/>
                <a:ea typeface="Cambria" panose="02040503050406030204" pitchFamily="18" charset="0"/>
              </a:rPr>
              <a:t> </a:t>
            </a:r>
            <a:r>
              <a:rPr lang="en-GB" b="1" dirty="0">
                <a:latin typeface="Cambria" panose="02040503050406030204" pitchFamily="18" charset="0"/>
                <a:ea typeface="Cambria" panose="02040503050406030204" pitchFamily="18" charset="0"/>
              </a:rPr>
              <a:t>Variations</a:t>
            </a:r>
            <a:r>
              <a:rPr lang="en-GB" dirty="0">
                <a:latin typeface="Cambria" panose="02040503050406030204" pitchFamily="18" charset="0"/>
                <a:ea typeface="Cambria" panose="02040503050406030204" pitchFamily="18" charset="0"/>
              </a:rPr>
              <a:t>
The water footprint of the same item can vary significantly depending on production location due to climate, agricultural practices, and industrial efficiency.
A dynamic system must factor in regional parameters for accurate results.
</a:t>
            </a:r>
            <a:r>
              <a:rPr lang="en-GB" b="1" dirty="0">
                <a:latin typeface="Cambria" panose="02040503050406030204" pitchFamily="18" charset="0"/>
                <a:ea typeface="Cambria" panose="02040503050406030204" pitchFamily="18" charset="0"/>
              </a:rPr>
              <a:t>3. User</a:t>
            </a:r>
            <a:r>
              <a:rPr lang="en-GB" dirty="0">
                <a:latin typeface="Cambria" panose="02040503050406030204" pitchFamily="18" charset="0"/>
                <a:ea typeface="Cambria" panose="02040503050406030204" pitchFamily="18" charset="0"/>
              </a:rPr>
              <a:t> </a:t>
            </a:r>
            <a:r>
              <a:rPr lang="en-GB" b="1" dirty="0">
                <a:latin typeface="Cambria" panose="02040503050406030204" pitchFamily="18" charset="0"/>
                <a:ea typeface="Cambria" panose="02040503050406030204" pitchFamily="18" charset="0"/>
              </a:rPr>
              <a:t>Awareness</a:t>
            </a:r>
            <a:r>
              <a:rPr lang="en-GB" dirty="0">
                <a:latin typeface="Cambria" panose="02040503050406030204" pitchFamily="18" charset="0"/>
                <a:ea typeface="Cambria" panose="02040503050406030204" pitchFamily="18" charset="0"/>
              </a:rPr>
              <a:t> </a:t>
            </a:r>
            <a:r>
              <a:rPr lang="en-GB" b="1" dirty="0">
                <a:latin typeface="Cambria" panose="02040503050406030204" pitchFamily="18" charset="0"/>
                <a:ea typeface="Cambria" panose="02040503050406030204" pitchFamily="18" charset="0"/>
              </a:rPr>
              <a:t>and</a:t>
            </a:r>
            <a:r>
              <a:rPr lang="en-GB" dirty="0">
                <a:latin typeface="Cambria" panose="02040503050406030204" pitchFamily="18" charset="0"/>
                <a:ea typeface="Cambria" panose="02040503050406030204" pitchFamily="18" charset="0"/>
              </a:rPr>
              <a:t> </a:t>
            </a:r>
            <a:r>
              <a:rPr lang="en-GB" b="1" dirty="0">
                <a:latin typeface="Cambria" panose="02040503050406030204" pitchFamily="18" charset="0"/>
                <a:ea typeface="Cambria" panose="02040503050406030204" pitchFamily="18" charset="0"/>
              </a:rPr>
              <a:t>Accessibility</a:t>
            </a:r>
            <a:r>
              <a:rPr lang="en-GB" dirty="0">
                <a:latin typeface="Cambria" panose="02040503050406030204" pitchFamily="18" charset="0"/>
                <a:ea typeface="Cambria" panose="02040503050406030204" pitchFamily="18" charset="0"/>
              </a:rPr>
              <a:t>
Most consumers are unaware of the indirect water consumption embedded in their daily choices.
Without a simple, engaging platform, public participation in footprint tracking remains low.
</a:t>
            </a:r>
          </a:p>
          <a:p>
            <a:pPr marL="152400" lvl="0" indent="0" algn="just" rtl="0">
              <a:spcBef>
                <a:spcPts val="0"/>
              </a:spcBef>
              <a:spcAft>
                <a:spcPts val="0"/>
              </a:spcAft>
              <a:buClr>
                <a:schemeClr val="dk1"/>
              </a:buClr>
              <a:buSzPct val="100000"/>
              <a:buNone/>
            </a:pPr>
            <a:r>
              <a:rPr lang="en-GB" b="1" dirty="0">
                <a:latin typeface="Cambria" panose="02040503050406030204" pitchFamily="18" charset="0"/>
                <a:ea typeface="Cambria" panose="02040503050406030204" pitchFamily="18" charset="0"/>
              </a:rPr>
              <a:t>4</a:t>
            </a:r>
            <a:r>
              <a:rPr lang="en-GB" dirty="0">
                <a:latin typeface="Cambria" panose="02040503050406030204" pitchFamily="18" charset="0"/>
                <a:ea typeface="Cambria" panose="02040503050406030204" pitchFamily="18" charset="0"/>
              </a:rPr>
              <a:t>. </a:t>
            </a:r>
            <a:r>
              <a:rPr lang="en-GB" b="1" dirty="0">
                <a:latin typeface="Cambria" panose="02040503050406030204" pitchFamily="18" charset="0"/>
                <a:ea typeface="Cambria" panose="02040503050406030204" pitchFamily="18" charset="0"/>
              </a:rPr>
              <a:t>Integration</a:t>
            </a:r>
            <a:r>
              <a:rPr lang="en-GB" dirty="0">
                <a:latin typeface="Cambria" panose="02040503050406030204" pitchFamily="18" charset="0"/>
                <a:ea typeface="Cambria" panose="02040503050406030204" pitchFamily="18" charset="0"/>
              </a:rPr>
              <a:t> </a:t>
            </a:r>
            <a:r>
              <a:rPr lang="en-GB" b="1" dirty="0">
                <a:latin typeface="Cambria" panose="02040503050406030204" pitchFamily="18" charset="0"/>
                <a:ea typeface="Cambria" panose="02040503050406030204" pitchFamily="18" charset="0"/>
              </a:rPr>
              <a:t>of</a:t>
            </a:r>
            <a:r>
              <a:rPr lang="en-GB" dirty="0">
                <a:latin typeface="Cambria" panose="02040503050406030204" pitchFamily="18" charset="0"/>
                <a:ea typeface="Cambria" panose="02040503050406030204" pitchFamily="18" charset="0"/>
              </a:rPr>
              <a:t> </a:t>
            </a:r>
            <a:r>
              <a:rPr lang="en-GB" b="1" dirty="0">
                <a:latin typeface="Cambria" panose="02040503050406030204" pitchFamily="18" charset="0"/>
                <a:ea typeface="Cambria" panose="02040503050406030204" pitchFamily="18" charset="0"/>
              </a:rPr>
              <a:t>Digital</a:t>
            </a:r>
            <a:r>
              <a:rPr lang="en-GB" dirty="0">
                <a:latin typeface="Cambria" panose="02040503050406030204" pitchFamily="18" charset="0"/>
                <a:ea typeface="Cambria" panose="02040503050406030204" pitchFamily="18" charset="0"/>
              </a:rPr>
              <a:t> </a:t>
            </a:r>
            <a:r>
              <a:rPr lang="en-GB" b="1" dirty="0">
                <a:latin typeface="Cambria" panose="02040503050406030204" pitchFamily="18" charset="0"/>
                <a:ea typeface="Cambria" panose="02040503050406030204" pitchFamily="18" charset="0"/>
              </a:rPr>
              <a:t>Technologies</a:t>
            </a:r>
            <a:r>
              <a:rPr lang="en-GB" dirty="0">
                <a:latin typeface="Cambria" panose="02040503050406030204" pitchFamily="18" charset="0"/>
                <a:ea typeface="Cambria" panose="02040503050406030204" pitchFamily="18" charset="0"/>
              </a:rPr>
              <a:t>
Cloud-based systems, APIs, and databases can enable real-time, scalable calculations.
</a:t>
            </a: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0308161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2446499" y="339514"/>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GB" dirty="0">
                <a:latin typeface="Cambria" panose="02040503050406030204" pitchFamily="18" charset="0"/>
                <a:ea typeface="Cambria" panose="02040503050406030204" pitchFamily="18" charset="0"/>
              </a:rPr>
              <a:t> Innovation or Novel Contributions:</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fontScale="62500" lnSpcReduction="20000"/>
          </a:bodyPr>
          <a:lstStyle/>
          <a:p>
            <a:pPr marL="342900" lvl="0" indent="-190500" algn="just" rtl="0">
              <a:lnSpc>
                <a:spcPct val="200000"/>
              </a:lnSpc>
              <a:spcBef>
                <a:spcPts val="0"/>
              </a:spcBef>
              <a:spcAft>
                <a:spcPts val="0"/>
              </a:spcAft>
              <a:buClr>
                <a:schemeClr val="dk1"/>
              </a:buClr>
              <a:buSzPct val="100000"/>
              <a:buNone/>
            </a:pPr>
            <a:r>
              <a:rPr lang="en-GB" b="1" dirty="0">
                <a:latin typeface="Cambria" panose="02040503050406030204" pitchFamily="18" charset="0"/>
                <a:ea typeface="Cambria" panose="02040503050406030204" pitchFamily="18" charset="0"/>
              </a:rPr>
              <a:t>Comprehensive</a:t>
            </a:r>
            <a:r>
              <a:rPr lang="en-GB" dirty="0">
                <a:latin typeface="Cambria" panose="02040503050406030204" pitchFamily="18" charset="0"/>
                <a:ea typeface="Cambria" panose="02040503050406030204" pitchFamily="18" charset="0"/>
              </a:rPr>
              <a:t> </a:t>
            </a:r>
            <a:r>
              <a:rPr lang="en-GB" b="1" dirty="0">
                <a:latin typeface="Cambria" panose="02040503050406030204" pitchFamily="18" charset="0"/>
                <a:ea typeface="Cambria" panose="02040503050406030204" pitchFamily="18" charset="0"/>
              </a:rPr>
              <a:t>Item</a:t>
            </a:r>
            <a:r>
              <a:rPr lang="en-GB" dirty="0">
                <a:latin typeface="Cambria" panose="02040503050406030204" pitchFamily="18" charset="0"/>
                <a:ea typeface="Cambria" panose="02040503050406030204" pitchFamily="18" charset="0"/>
              </a:rPr>
              <a:t> </a:t>
            </a:r>
            <a:r>
              <a:rPr lang="en-GB" b="1" dirty="0">
                <a:latin typeface="Cambria" panose="02040503050406030204" pitchFamily="18" charset="0"/>
                <a:ea typeface="Cambria" panose="02040503050406030204" pitchFamily="18" charset="0"/>
              </a:rPr>
              <a:t>Database</a:t>
            </a:r>
            <a:r>
              <a:rPr lang="en-GB" dirty="0">
                <a:latin typeface="Cambria" panose="02040503050406030204" pitchFamily="18" charset="0"/>
                <a:ea typeface="Cambria" panose="02040503050406030204" pitchFamily="18" charset="0"/>
              </a:rPr>
              <a:t>
Covers a wide range of daily use items, from food products to clothing to electronics, with their associated water</a:t>
            </a:r>
          </a:p>
          <a:p>
            <a:pPr marL="342900" lvl="0" indent="-190500" algn="just" rtl="0">
              <a:lnSpc>
                <a:spcPct val="200000"/>
              </a:lnSpc>
              <a:spcBef>
                <a:spcPts val="0"/>
              </a:spcBef>
              <a:spcAft>
                <a:spcPts val="0"/>
              </a:spcAft>
              <a:buClr>
                <a:schemeClr val="dk1"/>
              </a:buClr>
              <a:buSzPct val="100000"/>
              <a:buNone/>
            </a:pPr>
            <a:r>
              <a:rPr lang="en-GB" dirty="0">
                <a:latin typeface="Cambria" panose="02040503050406030204" pitchFamily="18" charset="0"/>
                <a:ea typeface="Cambria" panose="02040503050406030204" pitchFamily="18" charset="0"/>
              </a:rPr>
              <a:t> footprint values.
</a:t>
            </a:r>
            <a:r>
              <a:rPr lang="en-GB" b="1" dirty="0">
                <a:latin typeface="Cambria" panose="02040503050406030204" pitchFamily="18" charset="0"/>
                <a:ea typeface="Cambria" panose="02040503050406030204" pitchFamily="18" charset="0"/>
              </a:rPr>
              <a:t>Region-Specific</a:t>
            </a:r>
            <a:r>
              <a:rPr lang="en-GB" dirty="0">
                <a:latin typeface="Cambria" panose="02040503050406030204" pitchFamily="18" charset="0"/>
                <a:ea typeface="Cambria" panose="02040503050406030204" pitchFamily="18" charset="0"/>
              </a:rPr>
              <a:t> </a:t>
            </a:r>
            <a:r>
              <a:rPr lang="en-GB" b="1" dirty="0">
                <a:latin typeface="Cambria" panose="02040503050406030204" pitchFamily="18" charset="0"/>
                <a:ea typeface="Cambria" panose="02040503050406030204" pitchFamily="18" charset="0"/>
              </a:rPr>
              <a:t>Calculations</a:t>
            </a:r>
            <a:r>
              <a:rPr lang="en-GB" dirty="0">
                <a:latin typeface="Cambria" panose="02040503050406030204" pitchFamily="18" charset="0"/>
                <a:ea typeface="Cambria" panose="02040503050406030204" pitchFamily="18" charset="0"/>
              </a:rPr>
              <a:t>
Incorporates geographic and climatic variations to produce location-adjusted water footprint estimates.
</a:t>
            </a:r>
            <a:r>
              <a:rPr lang="en-GB" b="1" dirty="0">
                <a:latin typeface="Cambria" panose="02040503050406030204" pitchFamily="18" charset="0"/>
                <a:ea typeface="Cambria" panose="02040503050406030204" pitchFamily="18" charset="0"/>
              </a:rPr>
              <a:t>Real-Time</a:t>
            </a:r>
            <a:r>
              <a:rPr lang="en-GB" dirty="0">
                <a:latin typeface="Cambria" panose="02040503050406030204" pitchFamily="18" charset="0"/>
                <a:ea typeface="Cambria" panose="02040503050406030204" pitchFamily="18" charset="0"/>
              </a:rPr>
              <a:t> </a:t>
            </a:r>
            <a:r>
              <a:rPr lang="en-GB" b="1" dirty="0">
                <a:latin typeface="Cambria" panose="02040503050406030204" pitchFamily="18" charset="0"/>
                <a:ea typeface="Cambria" panose="02040503050406030204" pitchFamily="18" charset="0"/>
              </a:rPr>
              <a:t>Digital</a:t>
            </a:r>
            <a:r>
              <a:rPr lang="en-GB" dirty="0">
                <a:latin typeface="Cambria" panose="02040503050406030204" pitchFamily="18" charset="0"/>
                <a:ea typeface="Cambria" panose="02040503050406030204" pitchFamily="18" charset="0"/>
              </a:rPr>
              <a:t> </a:t>
            </a:r>
            <a:r>
              <a:rPr lang="en-GB" b="1" dirty="0">
                <a:latin typeface="Cambria" panose="02040503050406030204" pitchFamily="18" charset="0"/>
                <a:ea typeface="Cambria" panose="02040503050406030204" pitchFamily="18" charset="0"/>
              </a:rPr>
              <a:t>Computation</a:t>
            </a:r>
            <a:r>
              <a:rPr lang="en-GB" dirty="0">
                <a:latin typeface="Cambria" panose="02040503050406030204" pitchFamily="18" charset="0"/>
                <a:ea typeface="Cambria" panose="02040503050406030204" pitchFamily="18" charset="0"/>
              </a:rPr>
              <a:t>
Uses cloud-based processing and API integrations to provide instant calculations for user inputs.
</a:t>
            </a:r>
            <a:r>
              <a:rPr lang="en-GB" b="1" dirty="0">
                <a:latin typeface="Cambria" panose="02040503050406030204" pitchFamily="18" charset="0"/>
                <a:ea typeface="Cambria" panose="02040503050406030204" pitchFamily="18" charset="0"/>
              </a:rPr>
              <a:t>Interactive</a:t>
            </a:r>
            <a:r>
              <a:rPr lang="en-GB" dirty="0">
                <a:latin typeface="Cambria" panose="02040503050406030204" pitchFamily="18" charset="0"/>
                <a:ea typeface="Cambria" panose="02040503050406030204" pitchFamily="18" charset="0"/>
              </a:rPr>
              <a:t> </a:t>
            </a:r>
            <a:r>
              <a:rPr lang="en-GB" b="1" dirty="0">
                <a:latin typeface="Cambria" panose="02040503050406030204" pitchFamily="18" charset="0"/>
                <a:ea typeface="Cambria" panose="02040503050406030204" pitchFamily="18" charset="0"/>
              </a:rPr>
              <a:t>Visualization</a:t>
            </a:r>
            <a:r>
              <a:rPr lang="en-GB" dirty="0">
                <a:latin typeface="Cambria" panose="02040503050406030204" pitchFamily="18" charset="0"/>
                <a:ea typeface="Cambria" panose="02040503050406030204" pitchFamily="18" charset="0"/>
              </a:rPr>
              <a:t> </a:t>
            </a:r>
            <a:r>
              <a:rPr lang="en-GB" b="1" dirty="0">
                <a:latin typeface="Cambria" panose="02040503050406030204" pitchFamily="18" charset="0"/>
                <a:ea typeface="Cambria" panose="02040503050406030204" pitchFamily="18" charset="0"/>
              </a:rPr>
              <a:t>Tools</a:t>
            </a:r>
            <a:r>
              <a:rPr lang="en-GB" dirty="0">
                <a:latin typeface="Cambria" panose="02040503050406030204" pitchFamily="18" charset="0"/>
                <a:ea typeface="Cambria" panose="02040503050406030204" pitchFamily="18" charset="0"/>
              </a:rPr>
              <a:t>
Employs charts, infographics, and comparative visuals to make water footprint data intuitive and engaging.
</a:t>
            </a:r>
            <a:r>
              <a:rPr lang="en-GB" b="1" dirty="0">
                <a:latin typeface="Cambria" panose="02040503050406030204" pitchFamily="18" charset="0"/>
                <a:ea typeface="Cambria" panose="02040503050406030204" pitchFamily="18" charset="0"/>
              </a:rPr>
              <a:t>User-Centric</a:t>
            </a:r>
            <a:r>
              <a:rPr lang="en-GB" dirty="0">
                <a:latin typeface="Cambria" panose="02040503050406030204" pitchFamily="18" charset="0"/>
                <a:ea typeface="Cambria" panose="02040503050406030204" pitchFamily="18" charset="0"/>
              </a:rPr>
              <a:t> </a:t>
            </a:r>
            <a:r>
              <a:rPr lang="en-GB" b="1" dirty="0">
                <a:latin typeface="Cambria" panose="02040503050406030204" pitchFamily="18" charset="0"/>
                <a:ea typeface="Cambria" panose="02040503050406030204" pitchFamily="18" charset="0"/>
              </a:rPr>
              <a:t>Design</a:t>
            </a:r>
            <a:r>
              <a:rPr lang="en-GB" dirty="0">
                <a:latin typeface="Cambria" panose="02040503050406030204" pitchFamily="18" charset="0"/>
                <a:ea typeface="Cambria" panose="02040503050406030204" pitchFamily="18" charset="0"/>
              </a:rPr>
              <a:t>
Simple interface designed for both general consumers and policy researchers, enabling broad accessibility.</a:t>
            </a: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3388325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r>
              <a:rPr lang="en-US" dirty="0">
                <a:latin typeface="Cambria" panose="02040503050406030204" pitchFamily="18" charset="0"/>
                <a:ea typeface="Cambria" panose="02040503050406030204" pitchFamily="18" charset="0"/>
              </a:rPr>
              <a:t>The Github link provided should have public access permission.</a:t>
            </a: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r>
              <a:rPr lang="en-US" b="1" dirty="0">
                <a:solidFill>
                  <a:schemeClr val="accent2">
                    <a:lumMod val="75000"/>
                  </a:schemeClr>
                </a:solidFill>
                <a:latin typeface="Cambria" panose="02040503050406030204" pitchFamily="18" charset="0"/>
                <a:ea typeface="Cambria" panose="02040503050406030204" pitchFamily="18" charset="0"/>
              </a:rPr>
              <a:t>Github Link</a:t>
            </a: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r>
              <a:rPr lang="en-GB" b="1" dirty="0">
                <a:solidFill>
                  <a:schemeClr val="bg2"/>
                </a:solidFill>
                <a:latin typeface="Cambria" panose="02040503050406030204" pitchFamily="18" charset="0"/>
                <a:ea typeface="Cambria" panose="02040503050406030204" pitchFamily="18" charset="0"/>
              </a:rPr>
              <a:t>https://github.com/sagarikabolla</a:t>
            </a:r>
            <a:endParaRPr lang="en-US" b="1" dirty="0">
              <a:solidFill>
                <a:schemeClr val="bg2"/>
              </a:solidFill>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r>
              <a:rPr lang="en-GB" b="1" dirty="0">
                <a:latin typeface="Cambria" panose="02040503050406030204" pitchFamily="18" charset="0"/>
                <a:ea typeface="Cambria" panose="02040503050406030204" pitchFamily="18" charset="0"/>
              </a:rPr>
              <a:t>Week 1 –:</a:t>
            </a:r>
            <a:r>
              <a:rPr lang="en-GB" dirty="0">
                <a:latin typeface="Cambria" panose="02040503050406030204" pitchFamily="18" charset="0"/>
                <a:ea typeface="Cambria" panose="02040503050406030204" pitchFamily="18" charset="0"/>
              </a:rPr>
              <a:t> Planning &amp; Research Define scope, collect datasets, review existing tools  </a:t>
            </a:r>
          </a:p>
          <a:p>
            <a:pPr marL="342900" lvl="0" indent="-190500" algn="just" rtl="0">
              <a:spcBef>
                <a:spcPts val="0"/>
              </a:spcBef>
              <a:spcAft>
                <a:spcPts val="0"/>
              </a:spcAft>
              <a:buClr>
                <a:schemeClr val="dk1"/>
              </a:buClr>
              <a:buSzPct val="100000"/>
              <a:buNone/>
            </a:pPr>
            <a:r>
              <a:rPr lang="en-GB" dirty="0">
                <a:latin typeface="Cambria" panose="02040503050406030204" pitchFamily="18" charset="0"/>
                <a:ea typeface="Cambria" panose="02040503050406030204" pitchFamily="18" charset="0"/>
              </a:rPr>
              <a:t>	
</a:t>
            </a:r>
            <a:r>
              <a:rPr lang="en-GB" b="1" dirty="0">
                <a:latin typeface="Cambria" panose="02040503050406030204" pitchFamily="18" charset="0"/>
                <a:ea typeface="Cambria" panose="02040503050406030204" pitchFamily="18" charset="0"/>
              </a:rPr>
              <a:t>Week 2 –: </a:t>
            </a:r>
            <a:r>
              <a:rPr lang="en-GB" dirty="0">
                <a:latin typeface="Cambria" panose="02040503050406030204" pitchFamily="18" charset="0"/>
                <a:ea typeface="Cambria" panose="02040503050406030204" pitchFamily="18" charset="0"/>
              </a:rPr>
              <a:t>Design	System architecture, database schema, UI mockups</a:t>
            </a:r>
          </a:p>
          <a:p>
            <a:pPr marL="342900" lvl="0" indent="-190500" algn="just" rtl="0">
              <a:spcBef>
                <a:spcPts val="0"/>
              </a:spcBef>
              <a:spcAft>
                <a:spcPts val="0"/>
              </a:spcAft>
              <a:buClr>
                <a:schemeClr val="dk1"/>
              </a:buClr>
              <a:buSzPct val="100000"/>
              <a:buNone/>
            </a:pPr>
            <a:r>
              <a:rPr lang="en-GB" dirty="0">
                <a:latin typeface="Cambria" panose="02040503050406030204" pitchFamily="18" charset="0"/>
                <a:ea typeface="Cambria" panose="02040503050406030204" pitchFamily="18" charset="0"/>
              </a:rPr>
              <a:t>	
</a:t>
            </a:r>
            <a:r>
              <a:rPr lang="en-GB" b="1" dirty="0">
                <a:latin typeface="Cambria" panose="02040503050406030204" pitchFamily="18" charset="0"/>
                <a:ea typeface="Cambria" panose="02040503050406030204" pitchFamily="18" charset="0"/>
              </a:rPr>
              <a:t>Week 3 –: </a:t>
            </a:r>
            <a:r>
              <a:rPr lang="en-GB" dirty="0">
                <a:latin typeface="Cambria" panose="02040503050406030204" pitchFamily="18" charset="0"/>
                <a:ea typeface="Cambria" panose="02040503050406030204" pitchFamily="18" charset="0"/>
              </a:rPr>
              <a:t>Development	Backend API, calculation logic, frontend interface	</a:t>
            </a:r>
          </a:p>
          <a:p>
            <a:pPr marL="342900" lvl="0" indent="-190500" algn="just" rtl="0">
              <a:spcBef>
                <a:spcPts val="0"/>
              </a:spcBef>
              <a:spcAft>
                <a:spcPts val="0"/>
              </a:spcAft>
              <a:buClr>
                <a:schemeClr val="dk1"/>
              </a:buClr>
              <a:buSzPct val="100000"/>
              <a:buNone/>
            </a:pPr>
            <a:r>
              <a:rPr lang="en-GB" dirty="0">
                <a:latin typeface="Cambria" panose="02040503050406030204" pitchFamily="18" charset="0"/>
                <a:ea typeface="Cambria" panose="02040503050406030204" pitchFamily="18" charset="0"/>
              </a:rPr>
              <a:t>
</a:t>
            </a:r>
            <a:r>
              <a:rPr lang="en-GB" b="1" dirty="0">
                <a:latin typeface="Cambria" panose="02040503050406030204" pitchFamily="18" charset="0"/>
                <a:ea typeface="Cambria" panose="02040503050406030204" pitchFamily="18" charset="0"/>
              </a:rPr>
              <a:t>Week 4 –: </a:t>
            </a:r>
            <a:r>
              <a:rPr lang="en-GB" dirty="0">
                <a:latin typeface="Cambria" panose="02040503050406030204" pitchFamily="18" charset="0"/>
                <a:ea typeface="Cambria" panose="02040503050406030204" pitchFamily="18" charset="0"/>
              </a:rPr>
              <a:t>Integration &amp; Testing	Connect frontend &amp; backend, verify accuracy, fix bugs</a:t>
            </a:r>
          </a:p>
          <a:p>
            <a:pPr marL="342900" lvl="0" indent="-190500" algn="just" rtl="0">
              <a:spcBef>
                <a:spcPts val="0"/>
              </a:spcBef>
              <a:spcAft>
                <a:spcPts val="0"/>
              </a:spcAft>
              <a:buClr>
                <a:schemeClr val="dk1"/>
              </a:buClr>
              <a:buSzPct val="100000"/>
              <a:buNone/>
            </a:pPr>
            <a:r>
              <a:rPr lang="en-GB" dirty="0">
                <a:latin typeface="Cambria" panose="02040503050406030204" pitchFamily="18" charset="0"/>
                <a:ea typeface="Cambria" panose="02040503050406030204" pitchFamily="18" charset="0"/>
              </a:rPr>
              <a:t>
</a:t>
            </a:r>
            <a:r>
              <a:rPr lang="en-GB" b="1" dirty="0">
                <a:latin typeface="Cambria" panose="02040503050406030204" pitchFamily="18" charset="0"/>
                <a:ea typeface="Cambria" panose="02040503050406030204" pitchFamily="18" charset="0"/>
              </a:rPr>
              <a:t>Week</a:t>
            </a:r>
            <a:r>
              <a:rPr lang="en-GB" dirty="0">
                <a:latin typeface="Cambria" panose="02040503050406030204" pitchFamily="18" charset="0"/>
                <a:ea typeface="Cambria" panose="02040503050406030204" pitchFamily="18" charset="0"/>
              </a:rPr>
              <a:t> </a:t>
            </a:r>
            <a:r>
              <a:rPr lang="en-GB" b="1" dirty="0">
                <a:latin typeface="Cambria" panose="02040503050406030204" pitchFamily="18" charset="0"/>
                <a:ea typeface="Cambria" panose="02040503050406030204" pitchFamily="18" charset="0"/>
              </a:rPr>
              <a:t>5</a:t>
            </a:r>
            <a:r>
              <a:rPr lang="en-GB" dirty="0">
                <a:latin typeface="Cambria" panose="02040503050406030204" pitchFamily="18" charset="0"/>
                <a:ea typeface="Cambria" panose="02040503050406030204" pitchFamily="18" charset="0"/>
              </a:rPr>
              <a:t> </a:t>
            </a:r>
            <a:r>
              <a:rPr lang="en-GB" b="1" dirty="0">
                <a:latin typeface="Cambria" panose="02040503050406030204" pitchFamily="18" charset="0"/>
                <a:ea typeface="Cambria" panose="02040503050406030204" pitchFamily="18" charset="0"/>
              </a:rPr>
              <a:t>–:</a:t>
            </a:r>
            <a:r>
              <a:rPr lang="en-GB" dirty="0">
                <a:latin typeface="Cambria" panose="02040503050406030204" pitchFamily="18" charset="0"/>
                <a:ea typeface="Cambria" panose="02040503050406030204" pitchFamily="18" charset="0"/>
              </a:rPr>
              <a:t> Deployment &amp; Review	Deploy on cloud, prepare documentation, final presentation	</a:t>
            </a: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4798902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3" name="Text Placeholder 2">
            <a:extLst>
              <a:ext uri="{FF2B5EF4-FFF2-40B4-BE49-F238E27FC236}">
                <a16:creationId xmlns:a16="http://schemas.microsoft.com/office/drawing/2014/main" id="{FBC6368D-DC9F-CF28-F80E-04A459FCB622}"/>
              </a:ext>
            </a:extLst>
          </p:cNvPr>
          <p:cNvSpPr>
            <a:spLocks noGrp="1"/>
          </p:cNvSpPr>
          <p:nvPr>
            <p:ph type="body" idx="1"/>
          </p:nvPr>
        </p:nvSpPr>
        <p:spPr/>
        <p:txBody>
          <a:bodyPr>
            <a:normAutofit fontScale="85000" lnSpcReduction="20000"/>
          </a:bodyPr>
          <a:lstStyle/>
          <a:p>
            <a:pPr marL="76200" indent="0">
              <a:buNone/>
            </a:pPr>
            <a:r>
              <a:rPr lang="en-GB" dirty="0"/>
              <a:t>[1] IAHR Global Water Institutes, From Data to Decisions: The Digital Accelerators for Water Management, IAHR Global Water Institutes Report, 2025. DOI: 10.3850/IAHR-GWIR2025-001 
</a:t>
            </a:r>
            <a:r>
              <a:rPr lang="en-GB" b="1" u="sng" dirty="0">
                <a:solidFill>
                  <a:schemeClr val="accent1"/>
                </a:solidFill>
              </a:rPr>
              <a:t>Liahr.org</a:t>
            </a:r>
            <a:r>
              <a:rPr lang="en-GB" dirty="0"/>
              <a:t>
L</a:t>
            </a:r>
            <a:endParaRPr lang="en-GB" b="1" dirty="0">
              <a:solidFill>
                <a:schemeClr val="accent1"/>
              </a:solidFill>
            </a:endParaRPr>
          </a:p>
          <a:p>
            <a:pPr marL="76200" indent="0">
              <a:buNone/>
            </a:pPr>
            <a:r>
              <a:rPr lang="en-GB" dirty="0">
                <a:solidFill>
                  <a:schemeClr val="tx1"/>
                </a:solidFill>
              </a:rPr>
              <a:t>[2] S. Kashyap, “Use of Digital Technology to Calculate Water Footprints for Different Agricultural Products,” Engineer’s Planet, Aug. 20, 2024. [Online]. Available: EngineersPlanet Digital Abstract 
</a:t>
            </a:r>
            <a:r>
              <a:rPr lang="en-GB" b="1" u="sng" dirty="0">
                <a:solidFill>
                  <a:schemeClr val="accent1"/>
                </a:solidFill>
              </a:rPr>
              <a:t>engineersplanet.com</a:t>
            </a:r>
            <a:r>
              <a:rPr lang="en-GB" dirty="0">
                <a:solidFill>
                  <a:schemeClr val="tx1"/>
                </a:solidFill>
              </a:rPr>
              <a:t>
[3] Water Footprint Network, Water Footprint Assessment Tool – TNFD. [Online]. Available: TNFD Tools Catalogue 
</a:t>
            </a:r>
            <a:r>
              <a:rPr lang="en-GB" b="1" u="sng" dirty="0">
                <a:solidFill>
                  <a:schemeClr val="accent1"/>
                </a:solidFill>
              </a:rPr>
              <a:t>tnfd.global</a:t>
            </a:r>
            <a:r>
              <a:rPr lang="en-GB" dirty="0">
                <a:solidFill>
                  <a:schemeClr val="tx1"/>
                </a:solidFill>
              </a:rPr>
              <a:t>
[4] Water Footprint Network, Interactive Tools – Water Footprint Network. [Online]. Available: Water-Footprint Resources 
</a:t>
            </a:r>
            <a:r>
              <a:rPr lang="en-GB" b="1" u="sng" dirty="0">
                <a:solidFill>
                  <a:schemeClr val="accent1"/>
                </a:solidFill>
              </a:rPr>
              <a:t>waterfootprint.org</a:t>
            </a:r>
            <a:endParaRPr lang="en-US" b="1" u="sng" dirty="0">
              <a:solidFill>
                <a:schemeClr val="accent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221</TotalTime>
  <Words>288</Words>
  <Application>Microsoft Office PowerPoint</Application>
  <PresentationFormat>Widescreen</PresentationFormat>
  <Paragraphs>67</Paragraphs>
  <Slides>11</Slides>
  <Notes>10</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Bioinformatics</vt:lpstr>
      <vt:lpstr>Use of Digital Technology to calculate water footprints
for different daily use items</vt:lpstr>
      <vt:lpstr>Problem Statement Number: </vt:lpstr>
      <vt:lpstr>PROBLEM STATEMENT </vt:lpstr>
      <vt:lpstr> OBJECTIVES:</vt:lpstr>
      <vt:lpstr>Background and Related work for tittle Selection:</vt:lpstr>
      <vt:lpstr>Analysis of Problem Statement</vt:lpstr>
      <vt:lpstr> Innovation or Novel Contributions:</vt:lpstr>
      <vt:lpstr>Github Link</vt:lpstr>
      <vt:lpstr>Timeline of the Project (Gantt Chart)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Gandavaram Sravanthi</cp:lastModifiedBy>
  <cp:revision>41</cp:revision>
  <dcterms:modified xsi:type="dcterms:W3CDTF">2025-08-12T04:19:59Z</dcterms:modified>
</cp:coreProperties>
</file>