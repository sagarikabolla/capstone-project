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57" r:id="rId3"/>
    <p:sldId id="269" r:id="rId4"/>
    <p:sldId id="275" r:id="rId5"/>
    <p:sldId id="283" r:id="rId6"/>
    <p:sldId id="299" r:id="rId7"/>
    <p:sldId id="274" r:id="rId8"/>
    <p:sldId id="293" r:id="rId9"/>
    <p:sldId id="292" r:id="rId10"/>
    <p:sldId id="294" r:id="rId11"/>
    <p:sldId id="295" r:id="rId12"/>
    <p:sldId id="285" r:id="rId13"/>
    <p:sldId id="296" r:id="rId14"/>
    <p:sldId id="298" r:id="rId15"/>
    <p:sldId id="300" r:id="rId16"/>
    <p:sldId id="297" r:id="rId17"/>
    <p:sldId id="305" r:id="rId18"/>
    <p:sldId id="304" r:id="rId19"/>
    <p:sldId id="302" r:id="rId20"/>
    <p:sldId id="303" r:id="rId21"/>
    <p:sldId id="301" r:id="rId22"/>
    <p:sldId id="265" r:id="rId23"/>
    <p:sldId id="284" r:id="rId24"/>
    <p:sldId id="26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B388B2-4BA5-6458-4625-05EBE4C1BFD9}" v="282" dt="2025-12-01T08:27:05.349"/>
    <p1510:client id="{AA91D2CC-B02A-7CD2-03ED-4B7C7DA0091B}" v="741" dt="2025-12-01T09:12:12.869"/>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rtl="0">
              <a:spcBef>
                <a:spcPts val="0"/>
              </a:spcBef>
              <a:spcAft>
                <a:spcPts val="0"/>
              </a:spcAft>
              <a:buClr>
                <a:srgbClr val="17365D"/>
              </a:buClr>
              <a:buSzPts val="2800"/>
            </a:pPr>
            <a:r>
              <a:rPr lang="en-GB" sz="2400" dirty="0">
                <a:solidFill>
                  <a:schemeClr val="tx1"/>
                </a:solidFill>
                <a:latin typeface="Cambria" panose="02040503050406030204" pitchFamily="18" charset="0"/>
                <a:ea typeface="Cambria" panose="02040503050406030204" pitchFamily="18" charset="0"/>
              </a:rPr>
              <a:t>Use of Digital Technology to calculate water footprints
for different daily use items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IST_27</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GB" sz="18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dirty="0">
                <a:solidFill>
                  <a:schemeClr val="tx1"/>
                </a:solidFill>
                <a:latin typeface="Cambria" panose="02040503050406030204" pitchFamily="18" charset="0"/>
                <a:ea typeface="Cambria" panose="02040503050406030204" pitchFamily="18" charset="0"/>
                <a:cs typeface="Verdana"/>
                <a:sym typeface="Verdana"/>
              </a:rPr>
              <a:t>                                      Mr.Saptarsi Sanyal                 </a:t>
            </a:r>
            <a:endParaRPr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Assistant Professor</a:t>
            </a:r>
            <a:endParaRPr b="1"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767234204"/>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GB" sz="1800" b="1" u="none" strike="noStrike" cap="none" dirty="0"/>
                        <a:t>2O221IST0017</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t>Bolla Sagarika </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GB" sz="1800" b="1" u="none" strike="noStrike" cap="none" dirty="0"/>
                        <a:t>20221IST0002</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t>Gandavaram Sravanthi </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GB" sz="1800" b="1" u="none" strike="noStrike" cap="none" dirty="0"/>
                        <a:t>20221IST0003</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t>Bathina Mounika</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Review-5</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GB" sz="1800" b="1" dirty="0">
                <a:solidFill>
                  <a:schemeClr val="accent1"/>
                </a:solidFill>
                <a:latin typeface="Cambria" panose="02040503050406030204" pitchFamily="18" charset="0"/>
                <a:ea typeface="Cambria" panose="02040503050406030204" pitchFamily="18" charset="0"/>
                <a:cs typeface="Verdana"/>
                <a:sym typeface="Verdana"/>
              </a:rPr>
              <a:t> </a:t>
            </a:r>
            <a:r>
              <a:rPr lang="en-GB" sz="1800" b="1" dirty="0">
                <a:solidFill>
                  <a:schemeClr val="tx1"/>
                </a:solidFill>
                <a:latin typeface="Cambria" panose="02040503050406030204" pitchFamily="18" charset="0"/>
                <a:ea typeface="Cambria" panose="02040503050406030204" pitchFamily="18" charset="0"/>
                <a:cs typeface="Verdana"/>
                <a:sym typeface="Verdana"/>
              </a:rPr>
              <a:t>IST</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GB" sz="1800" b="1" dirty="0">
                <a:solidFill>
                  <a:srgbClr val="FF0000"/>
                </a:solidFill>
                <a:latin typeface="Cambria" panose="02040503050406030204" pitchFamily="18" charset="0"/>
                <a:ea typeface="Cambria" panose="02040503050406030204" pitchFamily="18" charset="0"/>
                <a:cs typeface="Verdana"/>
                <a:sym typeface="Verdana"/>
              </a:rPr>
              <a:t> </a:t>
            </a:r>
            <a:r>
              <a:rPr lang="en-GB" sz="1800" b="1" dirty="0">
                <a:solidFill>
                  <a:schemeClr val="tx1"/>
                </a:solidFill>
                <a:latin typeface="Cambria" panose="02040503050406030204" pitchFamily="18" charset="0"/>
                <a:ea typeface="Cambria" panose="02040503050406030204" pitchFamily="18" charset="0"/>
                <a:cs typeface="Verdana"/>
                <a:sym typeface="Verdana"/>
              </a:rPr>
              <a:t>Dr. Pallavi R</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GB" sz="1800" b="1" dirty="0">
                <a:solidFill>
                  <a:schemeClr val="tx1"/>
                </a:solidFill>
                <a:latin typeface="Cambria" panose="02040503050406030204" pitchFamily="18" charset="0"/>
                <a:ea typeface="Cambria" panose="02040503050406030204" pitchFamily="18" charset="0"/>
                <a:cs typeface="Verdana"/>
                <a:sym typeface="Verdana"/>
              </a:rPr>
              <a:t>Ms.Benitha Christinal J</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t>
            </a:r>
            <a:r>
              <a:rPr lang="en-GB" sz="1800" b="1" dirty="0">
                <a:solidFill>
                  <a:schemeClr val="tx1"/>
                </a:solidFill>
                <a:latin typeface="Cambria" panose="02040503050406030204" pitchFamily="18" charset="0"/>
                <a:ea typeface="Cambria" panose="02040503050406030204" pitchFamily="18" charset="0"/>
                <a:cs typeface="Verdana"/>
                <a:sym typeface="Verdana"/>
              </a:rPr>
              <a:t>G</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 CONTENT </a:t>
            </a:r>
            <a:endParaRPr dirty="0">
              <a:latin typeface="Cambria" panose="02040503050406030204" pitchFamily="18" charset="0"/>
              <a:ea typeface="Cambria" panose="02040503050406030204" pitchFamily="18" charset="0"/>
            </a:endParaRPr>
          </a:p>
        </p:txBody>
      </p:sp>
      <p:sp>
        <p:nvSpPr>
          <p:cNvPr id="4" name="Text Placeholder 3">
            <a:extLst>
              <a:ext uri="{FF2B5EF4-FFF2-40B4-BE49-F238E27FC236}">
                <a16:creationId xmlns:a16="http://schemas.microsoft.com/office/drawing/2014/main" id="{137EF553-478A-3FC7-57AB-87A3CC11C4E2}"/>
              </a:ext>
            </a:extLst>
          </p:cNvPr>
          <p:cNvSpPr>
            <a:spLocks noGrp="1"/>
          </p:cNvSpPr>
          <p:nvPr>
            <p:ph type="body" idx="1"/>
          </p:nvPr>
        </p:nvSpPr>
        <p:spPr>
          <a:xfrm>
            <a:off x="1218492" y="1035070"/>
            <a:ext cx="9755015" cy="4953000"/>
          </a:xfrm>
        </p:spPr>
        <p:txBody>
          <a:bodyPr>
            <a:normAutofit/>
          </a:bodyPr>
          <a:lstStyle/>
          <a:p>
            <a:r>
              <a:rPr lang="en-GB" sz="2000" dirty="0">
                <a:latin typeface="Cambria" panose="02040503050406030204" pitchFamily="18" charset="0"/>
                <a:ea typeface="Cambria" panose="02040503050406030204" pitchFamily="18" charset="0"/>
              </a:rPr>
              <a:t>Abstract</a:t>
            </a:r>
          </a:p>
          <a:p>
            <a:r>
              <a:rPr lang="en-GB" sz="2000" dirty="0">
                <a:latin typeface="Cambria" panose="02040503050406030204" pitchFamily="18" charset="0"/>
                <a:ea typeface="Cambria" panose="02040503050406030204" pitchFamily="18" charset="0"/>
              </a:rPr>
              <a:t>Literature Survey</a:t>
            </a:r>
          </a:p>
          <a:p>
            <a:r>
              <a:rPr lang="en-GB" sz="2000" dirty="0">
                <a:latin typeface="Cambria" panose="02040503050406030204" pitchFamily="18" charset="0"/>
                <a:ea typeface="Cambria" panose="02040503050406030204" pitchFamily="18" charset="0"/>
              </a:rPr>
              <a:t>Objectives</a:t>
            </a:r>
          </a:p>
          <a:p>
            <a:r>
              <a:rPr lang="en-GB" sz="2000" dirty="0">
                <a:latin typeface="Cambria" panose="02040503050406030204" pitchFamily="18" charset="0"/>
                <a:ea typeface="Cambria" panose="02040503050406030204" pitchFamily="18" charset="0"/>
              </a:rPr>
              <a:t>Existing Methods and Drawbacks</a:t>
            </a:r>
          </a:p>
          <a:p>
            <a:r>
              <a:rPr lang="en-GB" sz="2000" dirty="0">
                <a:latin typeface="Cambria" panose="02040503050406030204" pitchFamily="18" charset="0"/>
                <a:ea typeface="Cambria" panose="02040503050406030204" pitchFamily="18" charset="0"/>
              </a:rPr>
              <a:t>Proposed Method &amp; Feasibility Study</a:t>
            </a:r>
          </a:p>
          <a:p>
            <a:r>
              <a:rPr lang="en-GB" sz="2000" dirty="0">
                <a:latin typeface="Cambria" panose="02040503050406030204" pitchFamily="18" charset="0"/>
                <a:ea typeface="Cambria" panose="02040503050406030204" pitchFamily="18" charset="0"/>
              </a:rPr>
              <a:t>Architecture Diagram</a:t>
            </a:r>
          </a:p>
          <a:p>
            <a:r>
              <a:rPr lang="en-GB" sz="2000" dirty="0">
                <a:latin typeface="Cambria" panose="02040503050406030204" pitchFamily="18" charset="0"/>
                <a:ea typeface="Cambria" panose="02040503050406030204" pitchFamily="18" charset="0"/>
              </a:rPr>
              <a:t>Modules</a:t>
            </a:r>
          </a:p>
          <a:p>
            <a:r>
              <a:rPr lang="en-GB" sz="2000" dirty="0">
                <a:latin typeface="Cambria"/>
                <a:ea typeface="Cambria"/>
              </a:rPr>
              <a:t>Result</a:t>
            </a:r>
          </a:p>
          <a:p>
            <a:r>
              <a:rPr lang="en-GB" sz="2000" dirty="0">
                <a:latin typeface="Cambria"/>
                <a:ea typeface="Cambria"/>
              </a:rPr>
              <a:t>Conclusion</a:t>
            </a:r>
          </a:p>
          <a:p>
            <a:r>
              <a:rPr lang="en-GB" sz="2000" dirty="0">
                <a:latin typeface="Cambria" panose="02040503050406030204" pitchFamily="18" charset="0"/>
                <a:ea typeface="Cambria" panose="02040503050406030204" pitchFamily="18" charset="0"/>
              </a:rPr>
              <a:t>Timeline (Gantt Chart)</a:t>
            </a:r>
          </a:p>
          <a:p>
            <a:r>
              <a:rPr lang="en-GB" sz="2000" dirty="0">
                <a:latin typeface="Cambria" panose="02040503050406030204" pitchFamily="18" charset="0"/>
                <a:ea typeface="Cambria" panose="02040503050406030204" pitchFamily="18" charset="0"/>
              </a:rPr>
              <a:t>References</a:t>
            </a:r>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96247"/>
            <a:ext cx="10668000" cy="5099754"/>
          </a:xfrm>
          <a:prstGeom prst="rect">
            <a:avLst/>
          </a:prstGeom>
          <a:noFill/>
          <a:ln>
            <a:noFill/>
          </a:ln>
        </p:spPr>
        <p:txBody>
          <a:bodyPr spcFirstLastPara="1" wrap="square" lIns="91425" tIns="45700" rIns="91425" bIns="45700" anchor="t" anchorCtr="0">
            <a:noAutofit/>
          </a:bodyPr>
          <a:lstStyle/>
          <a:p>
            <a:pPr algn="just">
              <a:buNone/>
            </a:pPr>
            <a:r>
              <a:rPr lang="en-GB" sz="2000" b="1" dirty="0">
                <a:latin typeface="Cambria"/>
              </a:rPr>
              <a:t>Organization:</a:t>
            </a:r>
            <a:r>
              <a:rPr lang="en-GB" sz="2000" dirty="0">
                <a:latin typeface="Cambria"/>
              </a:rPr>
              <a:t> Aiming to create impactful digital solutions that contribute to sustainable</a:t>
            </a:r>
            <a:endParaRPr lang="en-US" sz="2000" dirty="0">
              <a:latin typeface="Cambria"/>
            </a:endParaRPr>
          </a:p>
          <a:p>
            <a:pPr algn="just">
              <a:buNone/>
            </a:pPr>
            <a:r>
              <a:rPr lang="en-GB" sz="2000" dirty="0">
                <a:latin typeface="Cambria"/>
              </a:rPr>
              <a:t>development goals, specifically addressing global water conservation issues.</a:t>
            </a:r>
            <a:endParaRPr lang="en-US" sz="2000" dirty="0">
              <a:latin typeface="Cambria"/>
            </a:endParaRPr>
          </a:p>
          <a:p>
            <a:pPr algn="just">
              <a:buNone/>
            </a:pPr>
            <a:r>
              <a:rPr lang="en-GB" sz="2000" b="1" dirty="0">
                <a:latin typeface="Cambria"/>
              </a:rPr>
              <a:t>Category  : </a:t>
            </a:r>
            <a:r>
              <a:rPr lang="en-GB" sz="2000" dirty="0">
                <a:latin typeface="Cambria"/>
              </a:rPr>
              <a:t>Software + Hardware (IoT Project)</a:t>
            </a:r>
            <a:endParaRPr lang="en-US" sz="2000" dirty="0">
              <a:latin typeface="Cambria"/>
              <a:ea typeface="Cambria"/>
            </a:endParaRPr>
          </a:p>
          <a:p>
            <a:pPr algn="just">
              <a:buNone/>
            </a:pPr>
            <a:r>
              <a:rPr lang="en-GB" sz="2000" b="1" dirty="0">
                <a:latin typeface="Cambria"/>
              </a:rPr>
              <a:t>Problem Description:</a:t>
            </a:r>
            <a:r>
              <a:rPr lang="en-GB" sz="2000" b="1" dirty="0"/>
              <a:t> </a:t>
            </a:r>
            <a:r>
              <a:rPr lang="en-GB" sz="2000" dirty="0">
                <a:latin typeface="Cambria"/>
                <a:ea typeface="Cambria"/>
              </a:rPr>
              <a:t>Water scarcity is becoming a major global concern due to population</a:t>
            </a:r>
            <a:endParaRPr lang="en-US" sz="2000" dirty="0">
              <a:latin typeface="Cambria"/>
              <a:ea typeface="Cambria"/>
            </a:endParaRPr>
          </a:p>
          <a:p>
            <a:pPr algn="just">
              <a:buNone/>
            </a:pPr>
            <a:r>
              <a:rPr lang="en-GB" sz="2000" dirty="0">
                <a:latin typeface="Cambria"/>
                <a:ea typeface="Cambria"/>
              </a:rPr>
              <a:t>growth, industrialization, and unsustainable consumption patterns. Many individuals remain</a:t>
            </a:r>
            <a:endParaRPr lang="en-US" sz="2000" dirty="0">
              <a:latin typeface="Cambria"/>
              <a:ea typeface="Cambria"/>
            </a:endParaRPr>
          </a:p>
          <a:p>
            <a:pPr algn="just">
              <a:buNone/>
            </a:pPr>
            <a:r>
              <a:rPr lang="en-GB" sz="2000" dirty="0">
                <a:latin typeface="Cambria"/>
                <a:ea typeface="Cambria"/>
              </a:rPr>
              <a:t>unaware of the amount of water required to produce the items they use daily—such as food,</a:t>
            </a:r>
            <a:endParaRPr lang="en-US" sz="2000" dirty="0">
              <a:latin typeface="Cambria"/>
              <a:ea typeface="Cambria"/>
            </a:endParaRPr>
          </a:p>
          <a:p>
            <a:pPr algn="just">
              <a:buNone/>
            </a:pPr>
            <a:r>
              <a:rPr lang="en-GB" sz="2000" dirty="0">
                <a:latin typeface="Cambria"/>
                <a:ea typeface="Cambria"/>
              </a:rPr>
              <a:t>clothing, electronics, and household products. Traditional methods of estimating water</a:t>
            </a:r>
            <a:endParaRPr lang="en-US" sz="2000" dirty="0">
              <a:latin typeface="Cambria"/>
              <a:ea typeface="Cambria"/>
            </a:endParaRPr>
          </a:p>
          <a:p>
            <a:pPr algn="just">
              <a:buNone/>
            </a:pPr>
            <a:r>
              <a:rPr lang="en-GB" sz="2000" dirty="0">
                <a:latin typeface="Cambria"/>
                <a:ea typeface="Cambria"/>
              </a:rPr>
              <a:t>footprints are often manual, complex, and lack real-time data, making them inaccessible for the </a:t>
            </a:r>
            <a:endParaRPr lang="en-US" sz="2000" dirty="0">
              <a:latin typeface="Cambria"/>
              <a:ea typeface="Cambria"/>
            </a:endParaRPr>
          </a:p>
          <a:p>
            <a:pPr algn="just">
              <a:buNone/>
            </a:pPr>
            <a:r>
              <a:rPr lang="en-GB" sz="2000" dirty="0">
                <a:latin typeface="Cambria"/>
                <a:ea typeface="Cambria"/>
              </a:rPr>
              <a:t>general public and small organizations. This gap in awareness and lack of user-friendly tools</a:t>
            </a:r>
            <a:endParaRPr lang="en-US" sz="2000" dirty="0">
              <a:latin typeface="Cambria"/>
              <a:ea typeface="Cambria"/>
            </a:endParaRPr>
          </a:p>
          <a:p>
            <a:pPr algn="just">
              <a:buNone/>
            </a:pPr>
            <a:r>
              <a:rPr lang="en-GB" sz="2000" dirty="0">
                <a:latin typeface="Cambria"/>
                <a:ea typeface="Cambria"/>
              </a:rPr>
              <a:t>prevents people from making informed, water-conscious choices. Therefore, there is a need for </a:t>
            </a:r>
            <a:endParaRPr lang="en-US" sz="2000" dirty="0">
              <a:latin typeface="Cambria"/>
              <a:ea typeface="Cambria"/>
            </a:endParaRPr>
          </a:p>
          <a:p>
            <a:pPr algn="just">
              <a:buNone/>
            </a:pPr>
            <a:r>
              <a:rPr lang="en-GB" sz="2000" dirty="0">
                <a:latin typeface="Cambria"/>
                <a:ea typeface="Cambria"/>
              </a:rPr>
              <a:t>a digital, automated, and accurate system that can calculate, </a:t>
            </a:r>
            <a:r>
              <a:rPr lang="en-GB" sz="2000" dirty="0" err="1">
                <a:latin typeface="Cambria"/>
                <a:ea typeface="Cambria"/>
              </a:rPr>
              <a:t>analyze</a:t>
            </a:r>
            <a:r>
              <a:rPr lang="en-GB" sz="2000" dirty="0">
                <a:latin typeface="Cambria"/>
                <a:ea typeface="Cambria"/>
              </a:rPr>
              <a:t>, and present the water </a:t>
            </a:r>
            <a:endParaRPr lang="en-US" sz="2000" dirty="0">
              <a:latin typeface="Cambria"/>
              <a:ea typeface="Cambria"/>
            </a:endParaRPr>
          </a:p>
          <a:p>
            <a:pPr algn="just">
              <a:buNone/>
            </a:pPr>
            <a:r>
              <a:rPr lang="en-GB" sz="2000" dirty="0">
                <a:latin typeface="Cambria"/>
                <a:ea typeface="Cambria"/>
              </a:rPr>
              <a:t>footprint of different daily use items in a simple and interactive manner. </a:t>
            </a:r>
            <a:endParaRPr lang="en-US" sz="2000" dirty="0">
              <a:latin typeface="Cambria"/>
              <a:ea typeface="Cambria"/>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9B018-40CD-2D0F-B49A-3051516A7D8D}"/>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Abstract</a:t>
            </a:r>
            <a:r>
              <a:rPr lang="en-GB" dirty="0"/>
              <a:t> </a:t>
            </a:r>
            <a:endParaRPr lang="en-US" dirty="0"/>
          </a:p>
        </p:txBody>
      </p:sp>
      <p:sp>
        <p:nvSpPr>
          <p:cNvPr id="3" name="Text Placeholder 2">
            <a:extLst>
              <a:ext uri="{FF2B5EF4-FFF2-40B4-BE49-F238E27FC236}">
                <a16:creationId xmlns:a16="http://schemas.microsoft.com/office/drawing/2014/main" id="{3D9A8C96-A399-6951-F1D8-5A9DE2677FE7}"/>
              </a:ext>
            </a:extLst>
          </p:cNvPr>
          <p:cNvSpPr>
            <a:spLocks noGrp="1"/>
          </p:cNvSpPr>
          <p:nvPr>
            <p:ph type="body" idx="1"/>
          </p:nvPr>
        </p:nvSpPr>
        <p:spPr/>
        <p:txBody>
          <a:bodyPr>
            <a:normAutofit/>
          </a:bodyPr>
          <a:lstStyle/>
          <a:p>
            <a:pPr marL="76200" indent="0" algn="just">
              <a:buNone/>
            </a:pPr>
            <a:r>
              <a:rPr lang="en-GB" sz="2000" dirty="0">
                <a:latin typeface="Cambria" panose="02040503050406030204" pitchFamily="18" charset="0"/>
                <a:ea typeface="Cambria" panose="02040503050406030204" pitchFamily="18" charset="0"/>
              </a:rPr>
              <a:t>Water is one of the most critical resources for human survival and sustainable development. However, rapid urbanization, population growth, and consumption patterns have placed enormous pressure on freshwater availability. Understanding and monitoring the water footprint of daily use items—such as food, clothing, and household products—has become essential for promoting responsible usage. This project explores the use of digital technologies to calculate and analyze water footprints in real time. By integrating IoT sensors, data analytics, and visualization dashboards, the system enables accurate tracking of water consumption linked to different products and activities. The methodology adopts the V-Model framework to ensure structured development, from requirement analysis to testing and evaluation. Simulation results demonstrate that digital tools can improve awareness of water usage and achieve accuracy levels exceeding 95% in water footprint estimation. The project not only highlights the role of technology in advancing sustainable practices but also aligns with global goals such as SDG 6 (Clean Water and Sanitation) and SDG 12 (Responsible Consumption and Production). Ultimately, the system provides individuals and communities with actionable insights, encouraging informed decisions and contributing to long-term water conservation.</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55140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510B1-1B00-3F8C-A1FF-13890F91BBEA}"/>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Literature Survey </a:t>
            </a:r>
            <a:endParaRPr lang="en-US" dirty="0">
              <a:latin typeface="Cambria" panose="02040503050406030204" pitchFamily="18" charset="0"/>
              <a:ea typeface="Cambria" panose="02040503050406030204" pitchFamily="18" charset="0"/>
            </a:endParaRPr>
          </a:p>
        </p:txBody>
      </p:sp>
      <p:graphicFrame>
        <p:nvGraphicFramePr>
          <p:cNvPr id="5" name="Table 4">
            <a:extLst>
              <a:ext uri="{FF2B5EF4-FFF2-40B4-BE49-F238E27FC236}">
                <a16:creationId xmlns:a16="http://schemas.microsoft.com/office/drawing/2014/main" id="{8501FED2-8D62-CF42-967F-1B64A69B02D0}"/>
              </a:ext>
            </a:extLst>
          </p:cNvPr>
          <p:cNvGraphicFramePr>
            <a:graphicFrameLocks noGrp="1"/>
          </p:cNvGraphicFramePr>
          <p:nvPr>
            <p:extLst>
              <p:ext uri="{D42A27DB-BD31-4B8C-83A1-F6EECF244321}">
                <p14:modId xmlns:p14="http://schemas.microsoft.com/office/powerpoint/2010/main" val="1799701260"/>
              </p:ext>
            </p:extLst>
          </p:nvPr>
        </p:nvGraphicFramePr>
        <p:xfrm>
          <a:off x="914401" y="1040657"/>
          <a:ext cx="10566399" cy="5186682"/>
        </p:xfrm>
        <a:graphic>
          <a:graphicData uri="http://schemas.openxmlformats.org/drawingml/2006/table">
            <a:tbl>
              <a:tblPr bandRow="1"/>
              <a:tblGrid>
                <a:gridCol w="1705019">
                  <a:extLst>
                    <a:ext uri="{9D8B030D-6E8A-4147-A177-3AD203B41FA5}">
                      <a16:colId xmlns:a16="http://schemas.microsoft.com/office/drawing/2014/main" val="2928764977"/>
                    </a:ext>
                  </a:extLst>
                </a:gridCol>
                <a:gridCol w="2215345">
                  <a:extLst>
                    <a:ext uri="{9D8B030D-6E8A-4147-A177-3AD203B41FA5}">
                      <a16:colId xmlns:a16="http://schemas.microsoft.com/office/drawing/2014/main" val="489517718"/>
                    </a:ext>
                  </a:extLst>
                </a:gridCol>
                <a:gridCol w="2215345">
                  <a:extLst>
                    <a:ext uri="{9D8B030D-6E8A-4147-A177-3AD203B41FA5}">
                      <a16:colId xmlns:a16="http://schemas.microsoft.com/office/drawing/2014/main" val="2285607585"/>
                    </a:ext>
                  </a:extLst>
                </a:gridCol>
                <a:gridCol w="2215345">
                  <a:extLst>
                    <a:ext uri="{9D8B030D-6E8A-4147-A177-3AD203B41FA5}">
                      <a16:colId xmlns:a16="http://schemas.microsoft.com/office/drawing/2014/main" val="66347399"/>
                    </a:ext>
                  </a:extLst>
                </a:gridCol>
                <a:gridCol w="2215345">
                  <a:extLst>
                    <a:ext uri="{9D8B030D-6E8A-4147-A177-3AD203B41FA5}">
                      <a16:colId xmlns:a16="http://schemas.microsoft.com/office/drawing/2014/main" val="914585276"/>
                    </a:ext>
                  </a:extLst>
                </a:gridCol>
              </a:tblGrid>
              <a:tr h="829724">
                <a:tc>
                  <a:txBody>
                    <a:bodyPr/>
                    <a:lstStyle/>
                    <a:p>
                      <a:pPr algn="just" rtl="0" fontAlgn="t">
                        <a:buNone/>
                      </a:pPr>
                      <a:r>
                        <a:rPr lang="en-GB" sz="1200" b="1" dirty="0">
                          <a:effectLst/>
                          <a:latin typeface="Cambria" panose="02040503050406030204" pitchFamily="18" charset="0"/>
                          <a:ea typeface="Cambria" panose="02040503050406030204" pitchFamily="18" charset="0"/>
                        </a:rPr>
                        <a:t>Author / Year</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GB" sz="1200" b="1" dirty="0">
                          <a:effectLst/>
                          <a:latin typeface="Cambria" panose="02040503050406030204" pitchFamily="18" charset="0"/>
                          <a:ea typeface="Cambria" panose="02040503050406030204" pitchFamily="18" charset="0"/>
                        </a:rPr>
                        <a:t>Focus of Study</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GB" sz="1200" b="1" dirty="0">
                          <a:effectLst/>
                          <a:latin typeface="Cambria" panose="02040503050406030204" pitchFamily="18" charset="0"/>
                          <a:ea typeface="Cambria" panose="02040503050406030204" pitchFamily="18" charset="0"/>
                        </a:rPr>
                        <a:t>Digital Technology Used</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GB" sz="1200" b="1" dirty="0">
                          <a:effectLst/>
                          <a:latin typeface="Cambria" panose="02040503050406030204" pitchFamily="18" charset="0"/>
                          <a:ea typeface="Cambria" panose="02040503050406030204" pitchFamily="18" charset="0"/>
                        </a:rPr>
                        <a:t>Key Findings</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GB" sz="1200" b="1" dirty="0">
                          <a:effectLst/>
                          <a:latin typeface="Cambria" panose="02040503050406030204" pitchFamily="18" charset="0"/>
                          <a:ea typeface="Cambria" panose="02040503050406030204" pitchFamily="18" charset="0"/>
                        </a:rPr>
                        <a:t>Relevance to Water Footprint Calculation</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0236538"/>
                  </a:ext>
                </a:extLst>
              </a:tr>
              <a:tr h="829724">
                <a:tc>
                  <a:txBody>
                    <a:bodyPr/>
                    <a:lstStyle/>
                    <a:p>
                      <a:pPr algn="just" rtl="0" fontAlgn="t">
                        <a:buNone/>
                      </a:pPr>
                      <a:r>
                        <a:rPr lang="en-IN" dirty="0">
                          <a:latin typeface="Cambria" panose="02040503050406030204" pitchFamily="18" charset="0"/>
                          <a:ea typeface="Cambria" panose="02040503050406030204" pitchFamily="18" charset="0"/>
                        </a:rPr>
                        <a:t>A. Y. Hoekstra et al.[1]</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Water Footprint Manual: State of the Art 2011</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Development of standardized framework for water footprint assessment</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Introduced blue, green, and grey water footprint calculation methods</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Lacks digital/automated tools for real-time footprint measurement</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5653697"/>
                  </a:ext>
                </a:extLst>
              </a:tr>
              <a:tr h="1279160">
                <a:tc>
                  <a:txBody>
                    <a:bodyPr/>
                    <a:lstStyle/>
                    <a:p>
                      <a:pPr algn="just" rtl="0" fontAlgn="t">
                        <a:buNone/>
                      </a:pPr>
                      <a:r>
                        <a:rPr lang="en-IN" dirty="0">
                          <a:latin typeface="Cambria" panose="02040503050406030204" pitchFamily="18" charset="0"/>
                          <a:ea typeface="Cambria" panose="02040503050406030204" pitchFamily="18" charset="0"/>
                        </a:rPr>
                        <a:t>J. Allan et al.[2]</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Virtual Water: Tackling the Threat to Our Planet’s Most Precious Resource</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Conceptual study on virtual water flows</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Highlighted importance of virtual water in global trade</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Does not provide computational/technology-based tracking systems</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3745236"/>
                  </a:ext>
                </a:extLst>
              </a:tr>
              <a:tr h="1048679">
                <a:tc>
                  <a:txBody>
                    <a:bodyPr/>
                    <a:lstStyle/>
                    <a:p>
                      <a:pPr algn="just" rtl="0" fontAlgn="t">
                        <a:buNone/>
                      </a:pPr>
                      <a:r>
                        <a:rPr lang="en-IN" dirty="0">
                          <a:latin typeface="Cambria" panose="02040503050406030204" pitchFamily="18" charset="0"/>
                          <a:ea typeface="Cambria" panose="02040503050406030204" pitchFamily="18" charset="0"/>
                        </a:rPr>
                        <a:t>M. M. Mekonnen et al.[3]</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Water footprint of crops and crop products</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IN" dirty="0">
                          <a:latin typeface="Cambria" panose="02040503050406030204" pitchFamily="18" charset="0"/>
                          <a:ea typeface="Cambria" panose="02040503050406030204" pitchFamily="18" charset="0"/>
                        </a:rPr>
                        <a:t>Quantitative analysis using global datasets</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Calculated green, blue, and grey footprints for many crops</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No integration with IoT, apps, or real-time monitoring</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4590730"/>
                  </a:ext>
                </a:extLst>
              </a:tr>
              <a:tr h="1048679">
                <a:tc>
                  <a:txBody>
                    <a:bodyPr/>
                    <a:lstStyle/>
                    <a:p>
                      <a:pPr algn="just" rtl="0" fontAlgn="t">
                        <a:buNone/>
                      </a:pPr>
                      <a:r>
                        <a:rPr lang="en-IN" dirty="0">
                          <a:latin typeface="Cambria" panose="02040503050406030204" pitchFamily="18" charset="0"/>
                          <a:ea typeface="Cambria" panose="02040503050406030204" pitchFamily="18" charset="0"/>
                        </a:rPr>
                        <a:t>Zhang et al.[4]</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IoT-based water monitoring system for smart cities</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IN" dirty="0">
                          <a:latin typeface="Cambria" panose="02040503050406030204" pitchFamily="18" charset="0"/>
                          <a:ea typeface="Cambria" panose="02040503050406030204" pitchFamily="18" charset="0"/>
                        </a:rPr>
                        <a:t>IoT sensors, cloud monitoring</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Real-time tracking of water usage in cities</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rPr>
                        <a:t>Focused on municipal monitoring, not personalized water footprint</a:t>
                      </a:r>
                      <a:endParaRPr lang="en-GB" dirty="0">
                        <a:effectLst/>
                        <a:latin typeface="Cambria" panose="02040503050406030204" pitchFamily="18" charset="0"/>
                        <a:ea typeface="Cambria" panose="02040503050406030204" pitchFamily="18"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3269965"/>
                  </a:ext>
                </a:extLst>
              </a:tr>
            </a:tbl>
          </a:graphicData>
        </a:graphic>
      </p:graphicFrame>
    </p:spTree>
    <p:extLst>
      <p:ext uri="{BB962C8B-B14F-4D97-AF65-F5344CB8AC3E}">
        <p14:creationId xmlns:p14="http://schemas.microsoft.com/office/powerpoint/2010/main" val="3579825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DD551-E2D3-DCDE-67DC-8F110B7F355A}"/>
              </a:ext>
            </a:extLst>
          </p:cNvPr>
          <p:cNvSpPr>
            <a:spLocks noGrp="1"/>
          </p:cNvSpPr>
          <p:nvPr>
            <p:ph type="title"/>
          </p:nvPr>
        </p:nvSpPr>
        <p:spPr/>
        <p:txBody>
          <a:bodyPr/>
          <a:lstStyle/>
          <a:p>
            <a:r>
              <a:rPr lang="en-GB" dirty="0">
                <a:latin typeface="Cambria"/>
              </a:rPr>
              <a:t>Literature Review</a:t>
            </a:r>
          </a:p>
        </p:txBody>
      </p:sp>
      <p:sp>
        <p:nvSpPr>
          <p:cNvPr id="3" name="Text Placeholder 2">
            <a:extLst>
              <a:ext uri="{FF2B5EF4-FFF2-40B4-BE49-F238E27FC236}">
                <a16:creationId xmlns:a16="http://schemas.microsoft.com/office/drawing/2014/main" id="{A7E8E833-EACC-1620-5BA7-F6E02A826F25}"/>
              </a:ext>
            </a:extLst>
          </p:cNvPr>
          <p:cNvSpPr>
            <a:spLocks noGrp="1"/>
          </p:cNvSpPr>
          <p:nvPr>
            <p:ph type="body" idx="1"/>
          </p:nvPr>
        </p:nvSpPr>
        <p:spPr>
          <a:xfrm>
            <a:off x="3493911" y="262468"/>
            <a:ext cx="7986889" cy="5833533"/>
          </a:xfrm>
        </p:spPr>
        <p:txBody>
          <a:bodyPr/>
          <a:lstStyle/>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p:txBody>
      </p:sp>
      <p:graphicFrame>
        <p:nvGraphicFramePr>
          <p:cNvPr id="11" name="Table 10">
            <a:extLst>
              <a:ext uri="{FF2B5EF4-FFF2-40B4-BE49-F238E27FC236}">
                <a16:creationId xmlns:a16="http://schemas.microsoft.com/office/drawing/2014/main" id="{36ABFACA-B773-44F7-D92B-50B2404AC734}"/>
              </a:ext>
            </a:extLst>
          </p:cNvPr>
          <p:cNvGraphicFramePr>
            <a:graphicFrameLocks noGrp="1"/>
          </p:cNvGraphicFramePr>
          <p:nvPr>
            <p:extLst>
              <p:ext uri="{D42A27DB-BD31-4B8C-83A1-F6EECF244321}">
                <p14:modId xmlns:p14="http://schemas.microsoft.com/office/powerpoint/2010/main" val="2608141482"/>
              </p:ext>
            </p:extLst>
          </p:nvPr>
        </p:nvGraphicFramePr>
        <p:xfrm>
          <a:off x="705555" y="1095022"/>
          <a:ext cx="10802100" cy="4868090"/>
        </p:xfrm>
        <a:graphic>
          <a:graphicData uri="http://schemas.openxmlformats.org/drawingml/2006/table">
            <a:tbl>
              <a:tblPr bandRow="1"/>
              <a:tblGrid>
                <a:gridCol w="2160420">
                  <a:extLst>
                    <a:ext uri="{9D8B030D-6E8A-4147-A177-3AD203B41FA5}">
                      <a16:colId xmlns:a16="http://schemas.microsoft.com/office/drawing/2014/main" val="1873685274"/>
                    </a:ext>
                  </a:extLst>
                </a:gridCol>
                <a:gridCol w="2160420">
                  <a:extLst>
                    <a:ext uri="{9D8B030D-6E8A-4147-A177-3AD203B41FA5}">
                      <a16:colId xmlns:a16="http://schemas.microsoft.com/office/drawing/2014/main" val="2000850944"/>
                    </a:ext>
                  </a:extLst>
                </a:gridCol>
                <a:gridCol w="2160420">
                  <a:extLst>
                    <a:ext uri="{9D8B030D-6E8A-4147-A177-3AD203B41FA5}">
                      <a16:colId xmlns:a16="http://schemas.microsoft.com/office/drawing/2014/main" val="3831046480"/>
                    </a:ext>
                  </a:extLst>
                </a:gridCol>
                <a:gridCol w="2160420">
                  <a:extLst>
                    <a:ext uri="{9D8B030D-6E8A-4147-A177-3AD203B41FA5}">
                      <a16:colId xmlns:a16="http://schemas.microsoft.com/office/drawing/2014/main" val="1635373764"/>
                    </a:ext>
                  </a:extLst>
                </a:gridCol>
                <a:gridCol w="2160420">
                  <a:extLst>
                    <a:ext uri="{9D8B030D-6E8A-4147-A177-3AD203B41FA5}">
                      <a16:colId xmlns:a16="http://schemas.microsoft.com/office/drawing/2014/main" val="2320283020"/>
                    </a:ext>
                  </a:extLst>
                </a:gridCol>
              </a:tblGrid>
              <a:tr h="846644">
                <a:tc>
                  <a:txBody>
                    <a:bodyPr/>
                    <a:lstStyle/>
                    <a:p>
                      <a:pPr algn="just" rtl="0" fontAlgn="t">
                        <a:buNone/>
                      </a:pPr>
                      <a:r>
                        <a:rPr lang="en-GB" sz="1200" b="1" i="0" u="none" strike="noStrike"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Author / Year</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GB" sz="1200" b="1" i="0" u="none" strike="noStrike"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Focus of Study</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GB" sz="1200" b="1" i="0" u="none" strike="noStrike"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Digital Technology Used</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GB" sz="1200" b="1" i="0" u="none" strike="noStrike"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Key Findings</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GB" sz="1200" b="1" i="0" u="none" strike="noStrike"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Relevance to Water Footprint Calculation</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1874506"/>
                  </a:ext>
                </a:extLst>
              </a:tr>
              <a:tr h="1073211">
                <a:tc>
                  <a:txBody>
                    <a:bodyPr/>
                    <a:lstStyle/>
                    <a:p>
                      <a:pPr algn="just" rtl="0" fontAlgn="t">
                        <a:buNone/>
                      </a:pPr>
                      <a:r>
                        <a:rPr lang="en-US" sz="1200" dirty="0">
                          <a:latin typeface="Cambria" panose="02040503050406030204" pitchFamily="18" charset="0"/>
                          <a:ea typeface="Cambria" panose="02040503050406030204" pitchFamily="18" charset="0"/>
                          <a:cs typeface="Calibri" panose="020F0502020204030204" pitchFamily="34" charset="0"/>
                        </a:rPr>
                        <a:t>R. Smith, et al.</a:t>
                      </a:r>
                      <a:r>
                        <a:rPr lang="en-GB" sz="1200" b="0" i="0" u="none" strike="noStrike"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[5]</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r>
                        <a:rPr lang="en-US" dirty="0">
                          <a:latin typeface="Cambria" panose="02040503050406030204" pitchFamily="18" charset="0"/>
                          <a:ea typeface="Cambria" panose="02040503050406030204" pitchFamily="18" charset="0"/>
                          <a:cs typeface="Calibri" panose="020F0502020204030204" pitchFamily="34" charset="0"/>
                        </a:rPr>
                        <a:t>Digital tools for sustainability education</a:t>
                      </a:r>
                      <a:br>
                        <a:rPr lang="en-GB" dirty="0">
                          <a:effectLst/>
                          <a:latin typeface="Cambria" panose="02040503050406030204" pitchFamily="18" charset="0"/>
                          <a:ea typeface="Cambria" panose="02040503050406030204" pitchFamily="18" charset="0"/>
                          <a:cs typeface="Calibri" panose="020F0502020204030204" pitchFamily="34" charset="0"/>
                        </a:rPr>
                      </a:b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cs typeface="Calibri" panose="020F0502020204030204" pitchFamily="34" charset="0"/>
                        </a:rPr>
                        <a:t>Review of digital learning platforms</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cs typeface="Calibri" panose="020F0502020204030204" pitchFamily="34" charset="0"/>
                        </a:rPr>
                        <a:t>Digital tools improved awareness and behavior</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cs typeface="Calibri" panose="020F0502020204030204" pitchFamily="34" charset="0"/>
                        </a:rPr>
                        <a:t>No specific tools for water footprint education</a:t>
                      </a:r>
                      <a:endParaRPr lang="en-GB" dirty="0">
                        <a:effectLst/>
                        <a:latin typeface="Cambria" panose="02040503050406030204" pitchFamily="18" charset="0"/>
                        <a:ea typeface="Cambria" panose="02040503050406030204" pitchFamily="18" charset="0"/>
                        <a:cs typeface="Calibri" panose="020F0502020204030204" pitchFamily="34" charset="0"/>
                      </a:endParaRPr>
                    </a:p>
                    <a:p>
                      <a:pPr fontAlgn="t">
                        <a:buNone/>
                      </a:pPr>
                      <a:br>
                        <a:rPr lang="en-GB" dirty="0">
                          <a:effectLst/>
                          <a:latin typeface="Cambria" panose="02040503050406030204" pitchFamily="18" charset="0"/>
                          <a:ea typeface="Cambria" panose="02040503050406030204" pitchFamily="18" charset="0"/>
                          <a:cs typeface="Calibri" panose="020F0502020204030204" pitchFamily="34" charset="0"/>
                        </a:rPr>
                      </a:b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082898"/>
                  </a:ext>
                </a:extLst>
              </a:tr>
              <a:tr h="1107944">
                <a:tc>
                  <a:txBody>
                    <a:bodyPr/>
                    <a:lstStyle/>
                    <a:p>
                      <a:pPr fontAlgn="t">
                        <a:buNone/>
                      </a:pPr>
                      <a:r>
                        <a:rPr lang="en-US" dirty="0">
                          <a:latin typeface="Cambria" panose="02040503050406030204" pitchFamily="18" charset="0"/>
                          <a:ea typeface="Cambria" panose="02040503050406030204" pitchFamily="18" charset="0"/>
                          <a:cs typeface="Calibri" panose="020F0502020204030204" pitchFamily="34" charset="0"/>
                        </a:rPr>
                        <a:t>P. Jones et al.[6]</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r>
                        <a:rPr lang="en-IN" dirty="0">
                          <a:latin typeface="Cambria" panose="02040503050406030204" pitchFamily="18" charset="0"/>
                          <a:ea typeface="Cambria" panose="02040503050406030204" pitchFamily="18" charset="0"/>
                          <a:cs typeface="Calibri" panose="020F0502020204030204" pitchFamily="34" charset="0"/>
                        </a:rPr>
                        <a:t>Software architecture for environmental footprint calculation</a:t>
                      </a:r>
                      <a:br>
                        <a:rPr lang="en-GB" dirty="0">
                          <a:effectLst/>
                          <a:latin typeface="Cambria" panose="02040503050406030204" pitchFamily="18" charset="0"/>
                          <a:ea typeface="Cambria" panose="02040503050406030204" pitchFamily="18" charset="0"/>
                          <a:cs typeface="Calibri" panose="020F0502020204030204" pitchFamily="34" charset="0"/>
                        </a:rPr>
                      </a:b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IN" sz="1200" dirty="0">
                          <a:latin typeface="Cambria" panose="02040503050406030204" pitchFamily="18" charset="0"/>
                          <a:ea typeface="Cambria" panose="02040503050406030204" pitchFamily="18" charset="0"/>
                          <a:cs typeface="Calibri" panose="020F0502020204030204" pitchFamily="34" charset="0"/>
                        </a:rPr>
                        <a:t>Software design models for environmental analysis</a:t>
                      </a:r>
                      <a:r>
                        <a:rPr lang="en-GB" sz="1200" b="0" i="0" u="none" strike="noStrike" dirty="0">
                          <a:solidFill>
                            <a:srgbClr val="000000"/>
                          </a:solidFill>
                          <a:effectLst/>
                          <a:latin typeface="Cambria" panose="02040503050406030204" pitchFamily="18" charset="0"/>
                          <a:ea typeface="Cambria" panose="02040503050406030204" pitchFamily="18" charset="0"/>
                          <a:cs typeface="Calibri" panose="020F0502020204030204" pitchFamily="34" charset="0"/>
                        </a:rPr>
                        <a:t>                                                                      </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r>
                        <a:rPr lang="en-US" dirty="0">
                          <a:latin typeface="Cambria" panose="02040503050406030204" pitchFamily="18" charset="0"/>
                          <a:ea typeface="Cambria" panose="02040503050406030204" pitchFamily="18" charset="0"/>
                          <a:cs typeface="Calibri" panose="020F0502020204030204" pitchFamily="34" charset="0"/>
                        </a:rPr>
                        <a:t>Proposed architecture for footprint computation systems</a:t>
                      </a:r>
                      <a:br>
                        <a:rPr lang="en-GB" dirty="0">
                          <a:effectLst/>
                          <a:latin typeface="Cambria" panose="02040503050406030204" pitchFamily="18" charset="0"/>
                          <a:ea typeface="Cambria" panose="02040503050406030204" pitchFamily="18" charset="0"/>
                          <a:cs typeface="Calibri" panose="020F0502020204030204" pitchFamily="34" charset="0"/>
                        </a:rPr>
                      </a:b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cs typeface="Calibri" panose="020F0502020204030204" pitchFamily="34" charset="0"/>
                        </a:rPr>
                        <a:t>Proposed architecture for footprints</a:t>
                      </a:r>
                      <a:br>
                        <a:rPr lang="en-GB" dirty="0">
                          <a:effectLst/>
                          <a:latin typeface="Cambria" panose="02040503050406030204" pitchFamily="18" charset="0"/>
                          <a:ea typeface="Cambria" panose="02040503050406030204" pitchFamily="18" charset="0"/>
                          <a:cs typeface="Calibri" panose="020F0502020204030204" pitchFamily="34" charset="0"/>
                        </a:rPr>
                      </a:b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5042946"/>
                  </a:ext>
                </a:extLst>
              </a:tr>
              <a:tr h="1073211">
                <a:tc>
                  <a:txBody>
                    <a:bodyPr/>
                    <a:lstStyle/>
                    <a:p>
                      <a:pPr fontAlgn="t">
                        <a:buNone/>
                      </a:pPr>
                      <a:r>
                        <a:rPr lang="en-IN" dirty="0">
                          <a:latin typeface="Cambria" panose="02040503050406030204" pitchFamily="18" charset="0"/>
                          <a:ea typeface="Cambria" panose="02040503050406030204" pitchFamily="18" charset="0"/>
                          <a:cs typeface="Calibri" panose="020F0502020204030204" pitchFamily="34" charset="0"/>
                        </a:rPr>
                        <a:t>T. Nguyen et al.[7]</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cs typeface="Calibri" panose="020F0502020204030204" pitchFamily="34" charset="0"/>
                        </a:rPr>
                        <a:t>Mobile app for water conservation awareness</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r>
                        <a:rPr lang="en-IN" dirty="0">
                          <a:latin typeface="Cambria" panose="02040503050406030204" pitchFamily="18" charset="0"/>
                          <a:ea typeface="Cambria" panose="02040503050406030204" pitchFamily="18" charset="0"/>
                          <a:cs typeface="Calibri" panose="020F0502020204030204" pitchFamily="34" charset="0"/>
                        </a:rPr>
                        <a:t>Android-based educational app</a:t>
                      </a:r>
                      <a:br>
                        <a:rPr lang="en-GB" dirty="0">
                          <a:effectLst/>
                          <a:latin typeface="Cambria" panose="02040503050406030204" pitchFamily="18" charset="0"/>
                          <a:ea typeface="Cambria" panose="02040503050406030204" pitchFamily="18" charset="0"/>
                          <a:cs typeface="Calibri" panose="020F0502020204030204" pitchFamily="34" charset="0"/>
                        </a:rPr>
                      </a:b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dirty="0">
                          <a:latin typeface="Cambria" panose="02040503050406030204" pitchFamily="18" charset="0"/>
                          <a:ea typeface="Cambria" panose="02040503050406030204" pitchFamily="18" charset="0"/>
                          <a:cs typeface="Calibri" panose="020F0502020204030204" pitchFamily="34" charset="0"/>
                        </a:rPr>
                        <a:t>Improved user awareness and reduced water usage</a:t>
                      </a:r>
                      <a:endParaRPr lang="en-IN" dirty="0">
                        <a:latin typeface="Cambria" panose="02040503050406030204" pitchFamily="18" charset="0"/>
                        <a:ea typeface="Cambria" panose="02040503050406030204" pitchFamily="18" charset="0"/>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cs typeface="Calibri" panose="020F0502020204030204" pitchFamily="34" charset="0"/>
                        </a:rPr>
                        <a:t>App did not include footprint calculation or sensor data</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1857254"/>
                  </a:ext>
                </a:extLst>
              </a:tr>
              <a:tr h="560455">
                <a:tc>
                  <a:txBody>
                    <a:bodyPr/>
                    <a:lstStyle/>
                    <a:p>
                      <a:pPr>
                        <a:buNone/>
                      </a:pPr>
                      <a:r>
                        <a:rPr lang="en-US" dirty="0">
                          <a:latin typeface="Cambria" panose="02040503050406030204" pitchFamily="18" charset="0"/>
                          <a:ea typeface="Cambria" panose="02040503050406030204" pitchFamily="18" charset="0"/>
                          <a:cs typeface="Calibri" panose="020F0502020204030204" pitchFamily="34" charset="0"/>
                        </a:rPr>
                        <a:t>K. Patel et al.[8]</a:t>
                      </a:r>
                      <a:endParaRPr lang="en-IN" dirty="0">
                        <a:latin typeface="Cambria" panose="02040503050406030204" pitchFamily="18" charset="0"/>
                        <a:ea typeface="Cambria" panose="02040503050406030204" pitchFamily="18" charset="0"/>
                        <a:cs typeface="Calibri" panose="020F0502020204030204" pitchFamily="3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da-DK" dirty="0">
                          <a:latin typeface="Cambria" panose="02040503050406030204" pitchFamily="18" charset="0"/>
                          <a:ea typeface="Cambria" panose="02040503050406030204" pitchFamily="18" charset="0"/>
                          <a:cs typeface="Calibri" panose="020F0502020204030204" pitchFamily="34" charset="0"/>
                        </a:rPr>
                        <a:t>IoT + database integration for environmental monitoring</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IN" dirty="0">
                          <a:latin typeface="Cambria" panose="02040503050406030204" pitchFamily="18" charset="0"/>
                          <a:ea typeface="Cambria" panose="02040503050406030204" pitchFamily="18" charset="0"/>
                          <a:cs typeface="Calibri" panose="020F0502020204030204" pitchFamily="34" charset="0"/>
                        </a:rPr>
                        <a:t>IoT sensors + cloud databases</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cs typeface="Calibri" panose="020F0502020204030204" pitchFamily="34" charset="0"/>
                        </a:rPr>
                        <a:t>Enabled large-scale data collection and analysis</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rtl="0" fontAlgn="t">
                        <a:buNone/>
                      </a:pPr>
                      <a:r>
                        <a:rPr lang="en-US" dirty="0">
                          <a:latin typeface="Cambria" panose="02040503050406030204" pitchFamily="18" charset="0"/>
                          <a:ea typeface="Cambria" panose="02040503050406030204" pitchFamily="18" charset="0"/>
                          <a:cs typeface="Calibri" panose="020F0502020204030204" pitchFamily="34" charset="0"/>
                        </a:rPr>
                        <a:t>Not specific to water footprint; lacks calculation models</a:t>
                      </a:r>
                      <a:endParaRPr lang="en-GB" dirty="0">
                        <a:effectLst/>
                        <a:latin typeface="Cambria" panose="02040503050406030204" pitchFamily="18" charset="0"/>
                        <a:ea typeface="Cambria" panose="02040503050406030204" pitchFamily="18" charset="0"/>
                        <a:cs typeface="Calibri" panose="020F0502020204030204" pitchFamily="34" charset="0"/>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7549903"/>
                  </a:ext>
                </a:extLst>
              </a:tr>
            </a:tbl>
          </a:graphicData>
        </a:graphic>
      </p:graphicFrame>
    </p:spTree>
    <p:extLst>
      <p:ext uri="{BB962C8B-B14F-4D97-AF65-F5344CB8AC3E}">
        <p14:creationId xmlns:p14="http://schemas.microsoft.com/office/powerpoint/2010/main" val="3044363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 OBJECTIVES:</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220D7334-4D48-7296-6C1A-6C9528D5876D}"/>
              </a:ext>
            </a:extLst>
          </p:cNvPr>
          <p:cNvSpPr>
            <a:spLocks noGrp="1"/>
          </p:cNvSpPr>
          <p:nvPr>
            <p:ph type="body" idx="1"/>
          </p:nvPr>
        </p:nvSpPr>
        <p:spPr/>
        <p:txBody>
          <a:bodyPr>
            <a:normAutofit/>
          </a:bodyPr>
          <a:lstStyle/>
          <a:p>
            <a:pPr marL="533400" indent="-457200">
              <a:buFont typeface="+mj-lt"/>
              <a:buAutoNum type="arabicPeriod"/>
            </a:pPr>
            <a:r>
              <a:rPr lang="en-GB" sz="2000" dirty="0">
                <a:latin typeface="Cambria"/>
                <a:ea typeface="Cambria"/>
              </a:rPr>
              <a:t>To develop a digital system that calculates the water footprint of various daily use items using standardized scientific methods (blue, green, and grey water footprints).</a:t>
            </a:r>
            <a:endParaRPr lang="en-US" sz="2000">
              <a:latin typeface="Cambria"/>
              <a:ea typeface="Cambria"/>
            </a:endParaRPr>
          </a:p>
          <a:p>
            <a:pPr marL="533400" indent="-457200">
              <a:buAutoNum type="arabicPeriod"/>
            </a:pPr>
            <a:r>
              <a:rPr lang="en-GB" sz="2000" dirty="0">
                <a:latin typeface="Cambria"/>
                <a:ea typeface="Cambria"/>
              </a:rPr>
              <a:t>To integrate digital technologies such as mobile applications, IoT sensors, or web-based dashboards for automated data collection, processing, and real-time analysis.</a:t>
            </a:r>
          </a:p>
          <a:p>
            <a:pPr marL="533400" indent="-457200">
              <a:buAutoNum type="arabicPeriod"/>
            </a:pPr>
            <a:r>
              <a:rPr lang="en-GB" sz="2000" dirty="0">
                <a:latin typeface="Cambria"/>
                <a:ea typeface="Cambria"/>
              </a:rPr>
              <a:t>To create a user-friendly interface that allows individuals to easily view, compare, and understand the water footprint values of commonly used products.</a:t>
            </a:r>
          </a:p>
          <a:p>
            <a:pPr marL="533400" indent="-457200">
              <a:buAutoNum type="arabicPeriod"/>
            </a:pPr>
            <a:r>
              <a:rPr lang="en-GB" sz="2000" dirty="0">
                <a:latin typeface="Cambria"/>
                <a:ea typeface="Cambria"/>
              </a:rPr>
              <a:t>To promote awareness about hidden water consumption by providing visual insights and data-driven reports on water usage patterns.</a:t>
            </a:r>
          </a:p>
          <a:p>
            <a:pPr marL="533400" indent="-457200">
              <a:buAutoNum type="arabicPeriod"/>
            </a:pPr>
            <a:r>
              <a:rPr lang="en-GB" sz="2000" dirty="0">
                <a:latin typeface="Cambria"/>
                <a:ea typeface="Cambria"/>
              </a:rPr>
              <a:t>To support sustainable decision-making by offering recommendations to reduce personal or household water footprints.</a:t>
            </a:r>
          </a:p>
          <a:p>
            <a:pPr marL="533400" indent="-457200">
              <a:buAutoNum type="arabicPeriod"/>
            </a:pPr>
            <a:r>
              <a:rPr lang="en-GB" sz="2000" dirty="0">
                <a:latin typeface="Cambria"/>
                <a:ea typeface="Cambria"/>
              </a:rPr>
              <a:t>To contribute to environmental sustainability goals, particularly SDG 6 (Clean Water and Sanitation) and SDG 12 (Responsible Consumption and Production).</a:t>
            </a:r>
          </a:p>
          <a:p>
            <a:pPr marL="533400" indent="-457200">
              <a:buAutoNum type="arabicPeriod"/>
            </a:pPr>
            <a:r>
              <a:rPr lang="en-GB" sz="2000" dirty="0">
                <a:latin typeface="Cambria"/>
                <a:ea typeface="Cambria"/>
              </a:rPr>
              <a:t>To ensure system accuracy and reliability through validation using standard water footprint calculation models and available databases.</a:t>
            </a:r>
            <a:endParaRPr lang="en-US" sz="2000">
              <a:latin typeface="Cambria"/>
              <a:ea typeface="Cambria"/>
            </a:endParaRPr>
          </a:p>
        </p:txBody>
      </p:sp>
    </p:spTree>
    <p:extLst>
      <p:ext uri="{BB962C8B-B14F-4D97-AF65-F5344CB8AC3E}">
        <p14:creationId xmlns:p14="http://schemas.microsoft.com/office/powerpoint/2010/main" val="2637979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04B17-DA1B-DD64-7277-7092F7D1F390}"/>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Existing Methods and Drawbacks </a:t>
            </a:r>
            <a:endParaRPr lang="en-US"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B5BF662D-27DE-B181-A442-EDF44A847B33}"/>
              </a:ext>
            </a:extLst>
          </p:cNvPr>
          <p:cNvSpPr>
            <a:spLocks noGrp="1"/>
          </p:cNvSpPr>
          <p:nvPr>
            <p:ph type="body" idx="1"/>
          </p:nvPr>
        </p:nvSpPr>
        <p:spPr/>
        <p:txBody>
          <a:bodyPr>
            <a:normAutofit/>
          </a:bodyPr>
          <a:lstStyle/>
          <a:p>
            <a:pPr marL="76200" indent="0">
              <a:buNone/>
            </a:pPr>
            <a:r>
              <a:rPr lang="en-GB" sz="2000" b="1" dirty="0">
                <a:latin typeface="Cambria" panose="02040503050406030204" pitchFamily="18" charset="0"/>
                <a:ea typeface="Cambria" panose="02040503050406030204" pitchFamily="18" charset="0"/>
              </a:rPr>
              <a:t>Existing Methods</a:t>
            </a:r>
            <a:r>
              <a:rPr lang="en-GB" sz="2000" dirty="0">
                <a:latin typeface="Cambria" panose="02040503050406030204" pitchFamily="18" charset="0"/>
                <a:ea typeface="Cambria" panose="02040503050406030204" pitchFamily="18" charset="0"/>
              </a:rPr>
              <a:t>
</a:t>
            </a:r>
            <a:r>
              <a:rPr lang="en-GB" sz="2000" b="1" dirty="0">
                <a:latin typeface="Cambria" panose="02040503050406030204" pitchFamily="18" charset="0"/>
                <a:ea typeface="Cambria" panose="02040503050406030204" pitchFamily="18" charset="0"/>
              </a:rPr>
              <a:t>1. Manual Calculation Using Water Footprint Assessment Framework</a:t>
            </a:r>
            <a:r>
              <a:rPr lang="en-GB" sz="2000" dirty="0">
                <a:latin typeface="Cambria" panose="02040503050406030204" pitchFamily="18" charset="0"/>
                <a:ea typeface="Cambria" panose="02040503050406030204" pitchFamily="18" charset="0"/>
              </a:rPr>
              <a:t>
Researchers and organizations use the Water Footprint Network (WFN) methodology to manually calculate blue, green, and grey water footprints.</a:t>
            </a:r>
            <a:endParaRPr lang="en-US"/>
          </a:p>
          <a:p>
            <a:pPr marL="76200" indent="0">
              <a:buNone/>
            </a:pPr>
            <a:r>
              <a:rPr lang="en-GB" sz="2000" b="1" dirty="0">
                <a:latin typeface="Cambria" panose="02040503050406030204" pitchFamily="18" charset="0"/>
                <a:ea typeface="Cambria" panose="02040503050406030204" pitchFamily="18" charset="0"/>
              </a:rPr>
              <a:t>2. Spreadsheet-Based Calculators</a:t>
            </a:r>
            <a:r>
              <a:rPr lang="en-GB" sz="2000" dirty="0">
                <a:latin typeface="Cambria" panose="02040503050406030204" pitchFamily="18" charset="0"/>
                <a:ea typeface="Cambria" panose="02040503050406030204" pitchFamily="18" charset="0"/>
              </a:rPr>
              <a:t>
Simple Excel-based or Google Sheet–based calculators are used by students, researchers, and small institutions.</a:t>
            </a:r>
          </a:p>
          <a:p>
            <a:pPr marL="76200" indent="0">
              <a:buNone/>
            </a:pPr>
            <a:r>
              <a:rPr lang="en-GB" sz="2000" b="1" dirty="0">
                <a:latin typeface="Cambria" panose="02040503050406030204" pitchFamily="18" charset="0"/>
                <a:ea typeface="Cambria" panose="02040503050406030204" pitchFamily="18" charset="0"/>
              </a:rPr>
              <a:t>3. Online Web Calculators (General Water Usage Tools)</a:t>
            </a:r>
            <a:r>
              <a:rPr lang="en-GB" sz="2000" dirty="0">
                <a:latin typeface="Cambria" panose="02040503050406030204" pitchFamily="18" charset="0"/>
                <a:ea typeface="Cambria" panose="02040503050406030204" pitchFamily="18" charset="0"/>
              </a:rPr>
              <a:t>
Some websites allow users to estimate domestic water use.</a:t>
            </a:r>
          </a:p>
          <a:p>
            <a:pPr marL="76200" indent="0">
              <a:buNone/>
            </a:pPr>
            <a:r>
              <a:rPr lang="en-GB" sz="2000" dirty="0">
                <a:latin typeface="Cambria" panose="02040503050406030204" pitchFamily="18" charset="0"/>
                <a:ea typeface="Cambria" panose="02040503050406030204" pitchFamily="18" charset="0"/>
              </a:rPr>
              <a:t>Typically calculate only direct water usage, not the water footprint of products.</a:t>
            </a:r>
          </a:p>
          <a:p>
            <a:pPr marL="76200" indent="0">
              <a:buNone/>
            </a:pPr>
            <a:r>
              <a:rPr lang="en-GB" sz="2000" b="1" dirty="0">
                <a:latin typeface="Cambria"/>
                <a:ea typeface="Cambria"/>
              </a:rPr>
              <a:t>4. Research Papers and Static Databases</a:t>
            </a:r>
            <a:r>
              <a:rPr lang="en-GB" sz="2000" dirty="0">
                <a:latin typeface="Cambria"/>
                <a:ea typeface="Cambria"/>
              </a:rPr>
              <a:t>
Databases list water footprint values for food items, clothing, and industrial products.
These are static and cannot adapt to real-time changes or specific user scenarios.</a:t>
            </a:r>
          </a:p>
        </p:txBody>
      </p:sp>
    </p:spTree>
    <p:extLst>
      <p:ext uri="{BB962C8B-B14F-4D97-AF65-F5344CB8AC3E}">
        <p14:creationId xmlns:p14="http://schemas.microsoft.com/office/powerpoint/2010/main" val="3080451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0FB49-2E35-D43B-40D2-4F4A31E3551F}"/>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Existing Methods and Drawbacks</a:t>
            </a:r>
            <a:endParaRPr lang="en-US"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8ED40723-5B4F-2ECD-A743-66D212DEFF67}"/>
              </a:ext>
            </a:extLst>
          </p:cNvPr>
          <p:cNvSpPr>
            <a:spLocks noGrp="1"/>
          </p:cNvSpPr>
          <p:nvPr>
            <p:ph type="body" idx="1"/>
          </p:nvPr>
        </p:nvSpPr>
        <p:spPr/>
        <p:txBody>
          <a:bodyPr>
            <a:noAutofit/>
          </a:bodyPr>
          <a:lstStyle/>
          <a:p>
            <a:pPr marL="76200" indent="0">
              <a:buNone/>
            </a:pPr>
            <a:r>
              <a:rPr lang="en-GB" sz="2000" b="1" dirty="0">
                <a:latin typeface="Cambria" panose="02040503050406030204" pitchFamily="18" charset="0"/>
                <a:ea typeface="Cambria" panose="02040503050406030204" pitchFamily="18" charset="0"/>
              </a:rPr>
              <a:t>Drawbacks of Existing Methods</a:t>
            </a:r>
            <a:r>
              <a:rPr lang="en-GB" sz="2000" dirty="0">
                <a:latin typeface="Cambria" panose="02040503050406030204" pitchFamily="18" charset="0"/>
                <a:ea typeface="Cambria" panose="02040503050406030204" pitchFamily="18" charset="0"/>
              </a:rPr>
              <a:t>
</a:t>
            </a:r>
            <a:r>
              <a:rPr lang="en-GB" sz="2000" b="1" dirty="0">
                <a:latin typeface="Cambria" panose="02040503050406030204" pitchFamily="18" charset="0"/>
                <a:ea typeface="Cambria" panose="02040503050406030204" pitchFamily="18" charset="0"/>
              </a:rPr>
              <a:t>1. Lack of Real-Time Data</a:t>
            </a:r>
            <a:r>
              <a:rPr lang="en-GB" sz="2000" dirty="0">
                <a:latin typeface="Cambria" panose="02040503050406030204" pitchFamily="18" charset="0"/>
                <a:ea typeface="Cambria" panose="02040503050406030204" pitchFamily="18" charset="0"/>
              </a:rPr>
              <a:t>
Most existing tools use static information or outdated datasets.
Cannot reflect real-time consumption or changes in water usage </a:t>
            </a:r>
            <a:r>
              <a:rPr lang="en-GB" sz="2000" dirty="0" err="1">
                <a:latin typeface="Cambria" panose="02040503050406030204" pitchFamily="18" charset="0"/>
                <a:ea typeface="Cambria" panose="02040503050406030204" pitchFamily="18" charset="0"/>
              </a:rPr>
              <a:t>behavior</a:t>
            </a:r>
            <a:r>
              <a:rPr lang="en-GB" sz="2000" dirty="0">
                <a:latin typeface="Cambria" panose="02040503050406030204" pitchFamily="18" charset="0"/>
                <a:ea typeface="Cambria" panose="02040503050406030204" pitchFamily="18" charset="0"/>
              </a:rPr>
              <a:t>.
</a:t>
            </a:r>
            <a:r>
              <a:rPr lang="en-GB" sz="2000" b="1" dirty="0">
                <a:latin typeface="Cambria" panose="02040503050406030204" pitchFamily="18" charset="0"/>
                <a:ea typeface="Cambria" panose="02040503050406030204" pitchFamily="18" charset="0"/>
              </a:rPr>
              <a:t>2. Complex and Non-User-Friendly</a:t>
            </a:r>
            <a:r>
              <a:rPr lang="en-GB" sz="2000" dirty="0">
                <a:latin typeface="Cambria" panose="02040503050406030204" pitchFamily="18" charset="0"/>
                <a:ea typeface="Cambria" panose="02040503050406030204" pitchFamily="18" charset="0"/>
              </a:rPr>
              <a:t>
Manual methods require technical knowledge and understanding of formulas.
Difficult for common users to interpret blue, green, and grey water values.
</a:t>
            </a:r>
            <a:r>
              <a:rPr lang="en-GB" sz="2000" b="1" dirty="0">
                <a:latin typeface="Cambria" panose="02040503050406030204" pitchFamily="18" charset="0"/>
                <a:ea typeface="Cambria" panose="02040503050406030204" pitchFamily="18" charset="0"/>
              </a:rPr>
              <a:t>3. Limited Scope</a:t>
            </a:r>
            <a:r>
              <a:rPr lang="en-GB" sz="2000" dirty="0">
                <a:latin typeface="Cambria" panose="02040503050406030204" pitchFamily="18" charset="0"/>
                <a:ea typeface="Cambria" panose="02040503050406030204" pitchFamily="18" charset="0"/>
              </a:rPr>
              <a:t>
Many calculators focus only on direct household water usage (e.g., taps, showers).
Do not calculate water buried in daily use items like clothes, smartphones, food products, etc.
</a:t>
            </a:r>
            <a:r>
              <a:rPr lang="en-GB" sz="2000" b="1" dirty="0">
                <a:latin typeface="Cambria" panose="02040503050406030204" pitchFamily="18" charset="0"/>
                <a:ea typeface="Cambria" panose="02040503050406030204" pitchFamily="18" charset="0"/>
              </a:rPr>
              <a:t>4. No Integration of Digital Technologies</a:t>
            </a:r>
            <a:r>
              <a:rPr lang="en-GB" sz="2000" dirty="0">
                <a:latin typeface="Cambria" panose="02040503050406030204" pitchFamily="18" charset="0"/>
                <a:ea typeface="Cambria" panose="02040503050406030204" pitchFamily="18" charset="0"/>
              </a:rPr>
              <a:t>
No centralized system that combines IoT, cloud computing, analytics, and mobile apps for automated calculation.
</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55263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541D-5FD6-62B2-C7FF-CCDA3D11E6D9}"/>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Proposed Method &amp; Feasibility Study </a:t>
            </a:r>
            <a:endParaRPr lang="en-US"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F2E8347F-4F04-834F-71E0-771F89AF6FDC}"/>
              </a:ext>
            </a:extLst>
          </p:cNvPr>
          <p:cNvSpPr>
            <a:spLocks noGrp="1"/>
          </p:cNvSpPr>
          <p:nvPr>
            <p:ph type="body" idx="1"/>
          </p:nvPr>
        </p:nvSpPr>
        <p:spPr>
          <a:xfrm>
            <a:off x="812800" y="1143001"/>
            <a:ext cx="10668000" cy="4845756"/>
          </a:xfrm>
        </p:spPr>
        <p:txBody>
          <a:bodyPr>
            <a:normAutofit lnSpcReduction="10000"/>
          </a:bodyPr>
          <a:lstStyle/>
          <a:p>
            <a:pPr marL="76200" indent="0">
              <a:buNone/>
            </a:pPr>
            <a:r>
              <a:rPr lang="en-GB" sz="2000" b="1" dirty="0">
                <a:latin typeface="Cambria" panose="02040503050406030204" pitchFamily="18" charset="0"/>
                <a:ea typeface="Cambria" panose="02040503050406030204" pitchFamily="18" charset="0"/>
              </a:rPr>
              <a:t>Proposed Method </a:t>
            </a:r>
          </a:p>
          <a:p>
            <a:pPr marL="76200" indent="0">
              <a:buNone/>
            </a:pPr>
            <a:endParaRPr lang="en-GB" sz="2000" dirty="0">
              <a:latin typeface="Cambria"/>
              <a:ea typeface="Cambria"/>
            </a:endParaRPr>
          </a:p>
          <a:p>
            <a:pPr marL="76200" indent="0">
              <a:buNone/>
            </a:pPr>
            <a:r>
              <a:rPr lang="en-GB" sz="2000" dirty="0">
                <a:latin typeface="Cambria"/>
                <a:ea typeface="Cambria"/>
              </a:rPr>
              <a:t>The proposed method focuses on developing a digital technology–based system to calculate the water footprint of different daily use items accurately and conveniently. The system integrates data processing, digital interfaces, and analytical tools to provide real-time and user-friendly insights into water usage.</a:t>
            </a:r>
            <a:endParaRPr lang="en-GB" sz="2000" b="1">
              <a:latin typeface="Cambria" panose="02040503050406030204" pitchFamily="18" charset="0"/>
              <a:ea typeface="Cambria" panose="02040503050406030204" pitchFamily="18" charset="0"/>
            </a:endParaRPr>
          </a:p>
          <a:p>
            <a:pPr marL="76200" indent="0">
              <a:buNone/>
            </a:pPr>
            <a:endParaRPr lang="en-GB" sz="2000" dirty="0">
              <a:latin typeface="Cambria"/>
              <a:ea typeface="Cambria"/>
            </a:endParaRPr>
          </a:p>
          <a:p>
            <a:pPr marL="533400" indent="-457200">
              <a:buAutoNum type="arabicPeriod"/>
            </a:pPr>
            <a:r>
              <a:rPr lang="en-GB" sz="2000" dirty="0">
                <a:latin typeface="Cambria" panose="02040503050406030204" pitchFamily="18" charset="0"/>
                <a:ea typeface="Cambria" panose="02040503050406030204" pitchFamily="18" charset="0"/>
              </a:rPr>
              <a:t>Data Collection Module</a:t>
            </a:r>
          </a:p>
          <a:p>
            <a:pPr marL="533400" indent="-457200">
              <a:buAutoNum type="arabicPeriod"/>
            </a:pPr>
            <a:r>
              <a:rPr lang="en-GB" sz="2000" dirty="0">
                <a:latin typeface="Cambria"/>
                <a:ea typeface="Cambria"/>
              </a:rPr>
              <a:t>Data Processing &amp; Calculation Engine </a:t>
            </a:r>
          </a:p>
          <a:p>
            <a:pPr marL="533400" indent="-457200">
              <a:buAutoNum type="arabicPeriod"/>
            </a:pPr>
            <a:r>
              <a:rPr lang="en-GB" sz="2000" dirty="0">
                <a:latin typeface="Cambria"/>
                <a:ea typeface="Cambria"/>
              </a:rPr>
              <a:t>User Interface (Mobile/Web App)</a:t>
            </a:r>
          </a:p>
          <a:p>
            <a:pPr marL="533400" indent="-457200">
              <a:buAutoNum type="arabicPeriod"/>
            </a:pPr>
            <a:r>
              <a:rPr lang="en-GB" sz="2000" dirty="0">
                <a:latin typeface="Cambria"/>
                <a:ea typeface="Cambria"/>
              </a:rPr>
              <a:t>Database Management System </a:t>
            </a:r>
          </a:p>
          <a:p>
            <a:pPr marL="533400" indent="-457200">
              <a:buAutoNum type="arabicPeriod"/>
            </a:pPr>
            <a:r>
              <a:rPr lang="en-GB" sz="2000" dirty="0">
                <a:latin typeface="Cambria"/>
                <a:ea typeface="Cambria"/>
              </a:rPr>
              <a:t>Analytics &amp; Dashboard  </a:t>
            </a:r>
          </a:p>
          <a:p>
            <a:pPr marL="533400" indent="-457200">
              <a:buAutoNum type="arabicPeriod"/>
            </a:pPr>
            <a:r>
              <a:rPr lang="en-GB" sz="2000" dirty="0">
                <a:latin typeface="Cambria"/>
                <a:ea typeface="Cambria"/>
              </a:rPr>
              <a:t>Recommendation Engine module</a:t>
            </a:r>
          </a:p>
          <a:p>
            <a:pPr marL="533400" indent="-457200">
              <a:buAutoNum type="arabicPeriod"/>
            </a:pPr>
            <a:r>
              <a:rPr lang="en-GB" sz="2000" dirty="0">
                <a:latin typeface="Cambria"/>
                <a:ea typeface="Cambria"/>
              </a:rPr>
              <a:t>Reporting &amp; Export Options</a:t>
            </a:r>
            <a:endParaRPr lang="en-US" sz="2000" dirty="0">
              <a:latin typeface="Cambria"/>
              <a:ea typeface="Cambria"/>
            </a:endParaRPr>
          </a:p>
        </p:txBody>
      </p:sp>
    </p:spTree>
    <p:extLst>
      <p:ext uri="{BB962C8B-B14F-4D97-AF65-F5344CB8AC3E}">
        <p14:creationId xmlns:p14="http://schemas.microsoft.com/office/powerpoint/2010/main" val="1329034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E8101-8078-FDB3-0F94-76C6FA6F154C}"/>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Proposed Method &amp; Feasibility Study </a:t>
            </a:r>
            <a:endParaRPr lang="en-US"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D84FA718-1199-74C4-7E04-2A5E4CC8726A}"/>
              </a:ext>
            </a:extLst>
          </p:cNvPr>
          <p:cNvSpPr>
            <a:spLocks noGrp="1"/>
          </p:cNvSpPr>
          <p:nvPr>
            <p:ph type="body" idx="1"/>
          </p:nvPr>
        </p:nvSpPr>
        <p:spPr/>
        <p:txBody>
          <a:bodyPr>
            <a:normAutofit/>
          </a:bodyPr>
          <a:lstStyle/>
          <a:p>
            <a:pPr marL="76200" indent="0">
              <a:buNone/>
            </a:pPr>
            <a:r>
              <a:rPr lang="en-GB" sz="2000" b="1" dirty="0">
                <a:latin typeface="Cambria" panose="02040503050406030204" pitchFamily="18" charset="0"/>
                <a:ea typeface="Cambria" panose="02040503050406030204" pitchFamily="18" charset="0"/>
              </a:rPr>
              <a:t>Feasibility Study
</a:t>
            </a:r>
            <a:r>
              <a:rPr lang="en-GB" sz="2000" dirty="0">
                <a:latin typeface="Cambria" panose="02040503050406030204" pitchFamily="18" charset="0"/>
                <a:ea typeface="Cambria" panose="02040503050406030204" pitchFamily="18" charset="0"/>
              </a:rPr>
              <a:t>
A feasibility study evaluates whether the proposed digital water footprint calculation system can be developed, implemented, and maintained effectively.</a:t>
            </a:r>
          </a:p>
          <a:p>
            <a:pPr marL="76200" indent="0">
              <a:buNone/>
            </a:pPr>
            <a:endParaRPr lang="en-GB" sz="2000" dirty="0">
              <a:latin typeface="Cambria" panose="02040503050406030204" pitchFamily="18" charset="0"/>
              <a:ea typeface="Cambria" panose="02040503050406030204" pitchFamily="18" charset="0"/>
            </a:endParaRPr>
          </a:p>
          <a:p>
            <a:pPr marL="533400" indent="-457200">
              <a:buFont typeface="+mj-lt"/>
              <a:buAutoNum type="arabicPeriod"/>
            </a:pPr>
            <a:r>
              <a:rPr lang="en-GB" sz="2000" dirty="0">
                <a:latin typeface="Cambria" panose="02040503050406030204" pitchFamily="18" charset="0"/>
                <a:ea typeface="Cambria" panose="02040503050406030204" pitchFamily="18" charset="0"/>
              </a:rPr>
              <a:t>Technical Feasibility</a:t>
            </a:r>
          </a:p>
          <a:p>
            <a:pPr marL="533400" indent="-457200">
              <a:buFont typeface="+mj-lt"/>
              <a:buAutoNum type="arabicPeriod"/>
            </a:pPr>
            <a:r>
              <a:rPr lang="en-GB" sz="2000" dirty="0">
                <a:latin typeface="Cambria" panose="02040503050406030204" pitchFamily="18" charset="0"/>
                <a:ea typeface="Cambria" panose="02040503050406030204" pitchFamily="18" charset="0"/>
              </a:rPr>
              <a:t>Economic Feasibility </a:t>
            </a:r>
          </a:p>
          <a:p>
            <a:pPr marL="533400" indent="-457200">
              <a:buFont typeface="+mj-lt"/>
              <a:buAutoNum type="arabicPeriod"/>
            </a:pPr>
            <a:r>
              <a:rPr lang="en-GB" sz="2000" dirty="0">
                <a:latin typeface="Cambria" panose="02040503050406030204" pitchFamily="18" charset="0"/>
                <a:ea typeface="Cambria" panose="02040503050406030204" pitchFamily="18" charset="0"/>
              </a:rPr>
              <a:t>Operational Feasibility</a:t>
            </a:r>
          </a:p>
          <a:p>
            <a:pPr marL="533400" indent="-457200">
              <a:buFont typeface="+mj-lt"/>
              <a:buAutoNum type="arabicPeriod"/>
            </a:pPr>
            <a:r>
              <a:rPr lang="en-GB" sz="2000" dirty="0">
                <a:latin typeface="Cambria" panose="02040503050406030204" pitchFamily="18" charset="0"/>
                <a:ea typeface="Cambria" panose="02040503050406030204" pitchFamily="18" charset="0"/>
              </a:rPr>
              <a:t>Schedule Feasibility</a:t>
            </a:r>
          </a:p>
          <a:p>
            <a:pPr marL="533400" indent="-457200">
              <a:buFont typeface="+mj-lt"/>
              <a:buAutoNum type="arabicPeriod"/>
            </a:pPr>
            <a:r>
              <a:rPr lang="en-GB" sz="2000" dirty="0">
                <a:latin typeface="Cambria" panose="02040503050406030204" pitchFamily="18" charset="0"/>
                <a:ea typeface="Cambria" panose="02040503050406030204" pitchFamily="18" charset="0"/>
              </a:rPr>
              <a:t>Legal &amp; Environmental Feasibility</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71405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F5C43-89EF-8A93-DD8D-331A82803976}"/>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Modules</a:t>
            </a:r>
            <a:r>
              <a:rPr lang="en-GB" dirty="0"/>
              <a:t> </a:t>
            </a:r>
            <a:endParaRPr lang="en-US" dirty="0"/>
          </a:p>
        </p:txBody>
      </p:sp>
      <p:sp>
        <p:nvSpPr>
          <p:cNvPr id="3" name="Text Placeholder 2">
            <a:extLst>
              <a:ext uri="{FF2B5EF4-FFF2-40B4-BE49-F238E27FC236}">
                <a16:creationId xmlns:a16="http://schemas.microsoft.com/office/drawing/2014/main" id="{26C5D124-C6DA-CDFC-8F4C-1B413577BD96}"/>
              </a:ext>
            </a:extLst>
          </p:cNvPr>
          <p:cNvSpPr>
            <a:spLocks noGrp="1"/>
          </p:cNvSpPr>
          <p:nvPr>
            <p:ph type="body" idx="1"/>
          </p:nvPr>
        </p:nvSpPr>
        <p:spPr>
          <a:xfrm>
            <a:off x="812800" y="1143001"/>
            <a:ext cx="10668000" cy="5195711"/>
          </a:xfrm>
        </p:spPr>
        <p:txBody>
          <a:bodyPr>
            <a:normAutofit fontScale="92500" lnSpcReduction="10000"/>
          </a:bodyPr>
          <a:lstStyle/>
          <a:p>
            <a:pPr marL="76200" indent="0">
              <a:buNone/>
            </a:pPr>
            <a:r>
              <a:rPr lang="en-GB" sz="2000" b="1" dirty="0">
                <a:latin typeface="Cambria"/>
                <a:ea typeface="Cambria"/>
              </a:rPr>
              <a:t>1. Data Collection Module</a:t>
            </a:r>
            <a:r>
              <a:rPr lang="en-GB" sz="2000" dirty="0">
                <a:latin typeface="Cambria"/>
                <a:ea typeface="Cambria"/>
              </a:rPr>
              <a:t>
Collects water footprint data from verified sources.
Optionally integrates real-time data via IoT devices </a:t>
            </a:r>
            <a:endParaRPr lang="en-US" sz="2000" dirty="0">
              <a:latin typeface="Cambria"/>
              <a:ea typeface="Cambria"/>
            </a:endParaRPr>
          </a:p>
          <a:p>
            <a:pPr marL="76200" indent="0">
              <a:buNone/>
            </a:pPr>
            <a:r>
              <a:rPr lang="en-GB" sz="2000" b="1" dirty="0">
                <a:latin typeface="Cambria"/>
                <a:ea typeface="Cambria"/>
              </a:rPr>
              <a:t>2. Data Processing &amp; Calculation Engine</a:t>
            </a:r>
            <a:r>
              <a:rPr lang="en-GB" sz="2000" dirty="0">
                <a:latin typeface="Cambria"/>
                <a:ea typeface="Cambria"/>
              </a:rPr>
              <a:t>
Core logic module applying formulas for:
Blue Water Footprint
Green Water Footprint
Grey Water Footprint 
Performs unit conversions, normalization per item, and aggregated calculations.</a:t>
            </a:r>
            <a:endParaRPr lang="en-US" sz="2000" dirty="0">
              <a:latin typeface="Cambria"/>
              <a:ea typeface="Cambria"/>
            </a:endParaRPr>
          </a:p>
          <a:p>
            <a:pPr marL="76200" indent="0">
              <a:buNone/>
            </a:pPr>
            <a:r>
              <a:rPr lang="en-GB" sz="2000" b="1" dirty="0">
                <a:latin typeface="Cambria"/>
                <a:ea typeface="Cambria"/>
              </a:rPr>
              <a:t>3. Database Management System</a:t>
            </a:r>
            <a:r>
              <a:rPr lang="en-GB" sz="2000" dirty="0">
                <a:latin typeface="Cambria"/>
                <a:ea typeface="Cambria"/>
              </a:rPr>
              <a:t>
Stores:
Item list &amp; water footprint values
User data and consumption history
Analytics records
Supports fast retrieval, CRUD operations, and secure storage.</a:t>
            </a:r>
            <a:endParaRPr lang="en-US" sz="2000">
              <a:latin typeface="Cambria"/>
              <a:ea typeface="Cambria"/>
            </a:endParaRPr>
          </a:p>
        </p:txBody>
      </p:sp>
    </p:spTree>
    <p:extLst>
      <p:ext uri="{BB962C8B-B14F-4D97-AF65-F5344CB8AC3E}">
        <p14:creationId xmlns:p14="http://schemas.microsoft.com/office/powerpoint/2010/main" val="1452671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B37BD-67CC-1490-8189-40F6FB1398C2}"/>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Modules </a:t>
            </a:r>
            <a:endParaRPr lang="en-US"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7ED5680E-0B7E-24D1-5B31-C7CA3F64F1C9}"/>
              </a:ext>
            </a:extLst>
          </p:cNvPr>
          <p:cNvSpPr>
            <a:spLocks noGrp="1"/>
          </p:cNvSpPr>
          <p:nvPr>
            <p:ph type="body" idx="1"/>
          </p:nvPr>
        </p:nvSpPr>
        <p:spPr/>
        <p:txBody>
          <a:bodyPr>
            <a:noAutofit/>
          </a:bodyPr>
          <a:lstStyle/>
          <a:p>
            <a:pPr marL="76200" indent="0">
              <a:buNone/>
            </a:pPr>
            <a:r>
              <a:rPr lang="en-GB" sz="2000" b="1" dirty="0">
                <a:latin typeface="Cambria" panose="02040503050406030204" pitchFamily="18" charset="0"/>
                <a:ea typeface="Cambria" panose="02040503050406030204" pitchFamily="18" charset="0"/>
              </a:rPr>
              <a:t>4. User Interface Module (Mobile/Web Application)</a:t>
            </a:r>
            <a:r>
              <a:rPr lang="en-GB" sz="2000" dirty="0">
                <a:latin typeface="Cambria" panose="02040503050406030204" pitchFamily="18" charset="0"/>
                <a:ea typeface="Cambria" panose="02040503050406030204" pitchFamily="18" charset="0"/>
              </a:rPr>
              <a:t>
Allows users to:
Select/search daily use items
Enter usage quantity
View calculated water footprints
</a:t>
            </a:r>
            <a:r>
              <a:rPr lang="en-GB" sz="2000" b="1" dirty="0">
                <a:latin typeface="Cambria" panose="02040503050406030204" pitchFamily="18" charset="0"/>
                <a:ea typeface="Cambria" panose="02040503050406030204" pitchFamily="18" charset="0"/>
              </a:rPr>
              <a:t>5. Analytics &amp; Dashboard Module</a:t>
            </a:r>
            <a:r>
              <a:rPr lang="en-GB" sz="2000" dirty="0">
                <a:latin typeface="Cambria" panose="02040503050406030204" pitchFamily="18" charset="0"/>
                <a:ea typeface="Cambria" panose="02040503050406030204" pitchFamily="18" charset="0"/>
              </a:rPr>
              <a:t>
Converts data into visual insights using:
Line charts
Pie charts
Bar graphs
</a:t>
            </a:r>
            <a:r>
              <a:rPr lang="en-GB" sz="2000" b="1" dirty="0">
                <a:latin typeface="Cambria" panose="02040503050406030204" pitchFamily="18" charset="0"/>
                <a:ea typeface="Cambria" panose="02040503050406030204" pitchFamily="18" charset="0"/>
              </a:rPr>
              <a:t>6. Recommendation Engine</a:t>
            </a:r>
            <a:r>
              <a:rPr lang="en-GB" sz="2000" dirty="0">
                <a:latin typeface="Cambria" panose="02040503050406030204" pitchFamily="18" charset="0"/>
                <a:ea typeface="Cambria" panose="02040503050406030204" pitchFamily="18" charset="0"/>
              </a:rPr>
              <a:t>
Provides suggestions to reduce water footprint.
Recommends alternatives for high-water-use items.
</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22410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FA8E3-46D3-0A7E-486A-1174B79E7BF9}"/>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Modules </a:t>
            </a:r>
            <a:endParaRPr lang="en-US"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2B34BAB1-A1C0-C96F-A712-74BAF2B60348}"/>
              </a:ext>
            </a:extLst>
          </p:cNvPr>
          <p:cNvSpPr>
            <a:spLocks noGrp="1"/>
          </p:cNvSpPr>
          <p:nvPr>
            <p:ph type="body" idx="1"/>
          </p:nvPr>
        </p:nvSpPr>
        <p:spPr/>
        <p:txBody>
          <a:bodyPr>
            <a:normAutofit/>
          </a:bodyPr>
          <a:lstStyle/>
          <a:p>
            <a:pPr marL="76200" indent="0">
              <a:buNone/>
            </a:pPr>
            <a:r>
              <a:rPr lang="en-GB" sz="2000" b="1" dirty="0">
                <a:latin typeface="Cambria" panose="02040503050406030204" pitchFamily="18" charset="0"/>
                <a:ea typeface="Cambria" panose="02040503050406030204" pitchFamily="18" charset="0"/>
              </a:rPr>
              <a:t>7. Reporting &amp; Export Module</a:t>
            </a:r>
            <a:r>
              <a:rPr lang="en-GB" sz="2000" dirty="0">
                <a:latin typeface="Cambria" panose="02040503050406030204" pitchFamily="18" charset="0"/>
                <a:ea typeface="Cambria" panose="02040503050406030204" pitchFamily="18" charset="0"/>
              </a:rPr>
              <a:t>
Generates downloadable reports .
Summarizes user’s water consumption patterns.
</a:t>
            </a:r>
            <a:r>
              <a:rPr lang="en-GB" sz="2000" b="1" dirty="0">
                <a:latin typeface="Cambria" panose="02040503050406030204" pitchFamily="18" charset="0"/>
                <a:ea typeface="Cambria" panose="02040503050406030204" pitchFamily="18" charset="0"/>
              </a:rPr>
              <a:t>8. Authentication &amp; User Management Module (Optional)</a:t>
            </a:r>
            <a:r>
              <a:rPr lang="en-GB" sz="2000" dirty="0">
                <a:latin typeface="Cambria" panose="02040503050406030204" pitchFamily="18" charset="0"/>
                <a:ea typeface="Cambria" panose="02040503050406030204" pitchFamily="18" charset="0"/>
              </a:rPr>
              <a:t>
Handles login, account creation, and user profiles.
Syncs usage history for personalization.
</a:t>
            </a:r>
            <a:r>
              <a:rPr lang="en-GB" sz="2000" b="1" dirty="0">
                <a:latin typeface="Cambria" panose="02040503050406030204" pitchFamily="18" charset="0"/>
                <a:ea typeface="Cambria" panose="02040503050406030204" pitchFamily="18" charset="0"/>
              </a:rPr>
              <a:t>9. IoT Integration Module (Optional)</a:t>
            </a:r>
            <a:r>
              <a:rPr lang="en-GB" sz="2000" dirty="0">
                <a:latin typeface="Cambria" panose="02040503050406030204" pitchFamily="18" charset="0"/>
                <a:ea typeface="Cambria" panose="02040503050406030204" pitchFamily="18" charset="0"/>
              </a:rPr>
              <a:t>
Connects to sensors that track real-time water usage in:
Showers
Taps
Washing machines
RO Purifiers
Sends real-time values to the database.</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64757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6BCE2-F759-D76F-9FDE-B9EDC587DD8C}"/>
              </a:ext>
            </a:extLst>
          </p:cNvPr>
          <p:cNvSpPr>
            <a:spLocks noGrp="1"/>
          </p:cNvSpPr>
          <p:nvPr>
            <p:ph type="title"/>
          </p:nvPr>
        </p:nvSpPr>
        <p:spPr/>
        <p:txBody>
          <a:bodyPr/>
          <a:lstStyle/>
          <a:p>
            <a:r>
              <a:rPr lang="en-GB" dirty="0">
                <a:latin typeface="Cambria"/>
              </a:rPr>
              <a:t>Architecture</a:t>
            </a:r>
          </a:p>
        </p:txBody>
      </p:sp>
      <p:sp>
        <p:nvSpPr>
          <p:cNvPr id="3" name="Text Placeholder 2">
            <a:extLst>
              <a:ext uri="{FF2B5EF4-FFF2-40B4-BE49-F238E27FC236}">
                <a16:creationId xmlns:a16="http://schemas.microsoft.com/office/drawing/2014/main" id="{C3E9DDAB-E1D6-8C23-048E-3166CBCB2630}"/>
              </a:ext>
            </a:extLst>
          </p:cNvPr>
          <p:cNvSpPr>
            <a:spLocks noGrp="1"/>
          </p:cNvSpPr>
          <p:nvPr>
            <p:ph type="body" idx="1"/>
          </p:nvPr>
        </p:nvSpPr>
        <p:spPr/>
        <p:txBody>
          <a:bodyPr>
            <a:normAutofit fontScale="92500" lnSpcReduction="10000"/>
          </a:bodyPr>
          <a:lstStyle/>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sz="2000" dirty="0">
              <a:latin typeface="Cambria"/>
            </a:endParaRPr>
          </a:p>
          <a:p>
            <a:pPr marL="76200" indent="0">
              <a:buNone/>
            </a:pPr>
            <a:endParaRPr lang="en-GB" sz="2000" dirty="0">
              <a:latin typeface="Cambria"/>
            </a:endParaRPr>
          </a:p>
          <a:p>
            <a:pPr marL="76200" indent="0" algn="ctr">
              <a:buNone/>
            </a:pPr>
            <a:r>
              <a:rPr lang="en-GB" sz="2000" dirty="0">
                <a:latin typeface="Cambria"/>
              </a:rPr>
              <a:t>Fig 1.System Flow Chart</a:t>
            </a:r>
            <a:endParaRPr lang="en-US" sz="2000" dirty="0">
              <a:latin typeface="Cambria"/>
            </a:endParaRPr>
          </a:p>
        </p:txBody>
      </p:sp>
      <p:pic>
        <p:nvPicPr>
          <p:cNvPr id="4" name="Picture 3" descr="A diagram of a data processing process&#10;&#10;AI-generated content may be incorrect.">
            <a:extLst>
              <a:ext uri="{FF2B5EF4-FFF2-40B4-BE49-F238E27FC236}">
                <a16:creationId xmlns:a16="http://schemas.microsoft.com/office/drawing/2014/main" id="{24DC03A9-3A56-B1EE-EC48-E78702CF74FF}"/>
              </a:ext>
            </a:extLst>
          </p:cNvPr>
          <p:cNvPicPr>
            <a:picLocks noChangeAspect="1"/>
          </p:cNvPicPr>
          <p:nvPr/>
        </p:nvPicPr>
        <p:blipFill>
          <a:blip r:embed="rId2"/>
          <a:stretch>
            <a:fillRect/>
          </a:stretch>
        </p:blipFill>
        <p:spPr>
          <a:xfrm>
            <a:off x="1273951" y="1146048"/>
            <a:ext cx="10083009" cy="4066032"/>
          </a:xfrm>
          <a:prstGeom prst="rect">
            <a:avLst/>
          </a:prstGeom>
        </p:spPr>
      </p:pic>
    </p:spTree>
    <p:extLst>
      <p:ext uri="{BB962C8B-B14F-4D97-AF65-F5344CB8AC3E}">
        <p14:creationId xmlns:p14="http://schemas.microsoft.com/office/powerpoint/2010/main" val="2251790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10E90-E1F2-9AEF-1A94-86333E9376DD}"/>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Architecture </a:t>
            </a:r>
            <a:endParaRPr lang="en-US"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E6CBFFE1-97A4-E8AB-6F3B-B0683B0DA534}"/>
              </a:ext>
            </a:extLst>
          </p:cNvPr>
          <p:cNvSpPr>
            <a:spLocks noGrp="1"/>
          </p:cNvSpPr>
          <p:nvPr>
            <p:ph type="body" idx="1"/>
          </p:nvPr>
        </p:nvSpPr>
        <p:spPr>
          <a:xfrm>
            <a:off x="812800" y="1143001"/>
            <a:ext cx="10668000" cy="5455355"/>
          </a:xfrm>
        </p:spPr>
        <p:txBody>
          <a:bodyPr>
            <a:normAutofit/>
          </a:bodyPr>
          <a:lstStyle/>
          <a:p>
            <a:pPr marL="76200" indent="0">
              <a:buNone/>
            </a:pPr>
            <a:r>
              <a:rPr lang="en-GB" sz="2000" b="1" dirty="0">
                <a:latin typeface="Cambria"/>
                <a:ea typeface="Cambria"/>
              </a:rPr>
              <a:t> </a:t>
            </a:r>
          </a:p>
          <a:p>
            <a:pPr marL="76200" indent="0">
              <a:buNone/>
            </a:pPr>
            <a:endParaRPr lang="en-GB" sz="2000" b="1" dirty="0">
              <a:latin typeface="Cambria" panose="02040503050406030204" pitchFamily="18" charset="0"/>
              <a:ea typeface="Cambria" panose="02040503050406030204" pitchFamily="18" charset="0"/>
            </a:endParaRPr>
          </a:p>
          <a:p>
            <a:pPr marL="76200" indent="0">
              <a:buNone/>
            </a:pPr>
            <a:endParaRPr lang="en-GB" sz="2000" b="1" dirty="0">
              <a:latin typeface="Cambria" panose="02040503050406030204" pitchFamily="18" charset="0"/>
              <a:ea typeface="Cambria" panose="02040503050406030204" pitchFamily="18" charset="0"/>
            </a:endParaRPr>
          </a:p>
          <a:p>
            <a:pPr marL="76200" indent="0">
              <a:buNone/>
            </a:pPr>
            <a:endParaRPr lang="en-US" sz="2000" b="1" dirty="0">
              <a:latin typeface="Cambria"/>
              <a:ea typeface="Cambria"/>
            </a:endParaRPr>
          </a:p>
          <a:p>
            <a:pPr marL="76200" indent="0">
              <a:buNone/>
            </a:pPr>
            <a:endParaRPr lang="en-US" sz="2000" b="1" dirty="0">
              <a:latin typeface="Cambria"/>
              <a:ea typeface="Cambria"/>
            </a:endParaRPr>
          </a:p>
          <a:p>
            <a:pPr marL="76200" indent="0">
              <a:buNone/>
            </a:pPr>
            <a:endParaRPr lang="en-US" sz="2000" b="1" dirty="0">
              <a:latin typeface="Cambria"/>
              <a:ea typeface="Cambria"/>
            </a:endParaRPr>
          </a:p>
          <a:p>
            <a:pPr marL="76200" indent="0">
              <a:buNone/>
            </a:pPr>
            <a:endParaRPr lang="en-US" sz="2000" b="1" dirty="0">
              <a:latin typeface="Cambria"/>
              <a:ea typeface="Cambria"/>
            </a:endParaRPr>
          </a:p>
          <a:p>
            <a:pPr marL="76200" indent="0">
              <a:buNone/>
            </a:pPr>
            <a:endParaRPr lang="en-US" sz="2000" b="1" dirty="0">
              <a:latin typeface="Cambria"/>
              <a:ea typeface="Cambria"/>
            </a:endParaRPr>
          </a:p>
          <a:p>
            <a:pPr marL="76200" indent="0">
              <a:buNone/>
            </a:pPr>
            <a:endParaRPr lang="en-US" sz="2000" b="1" dirty="0">
              <a:latin typeface="Cambria"/>
              <a:ea typeface="Cambria"/>
            </a:endParaRPr>
          </a:p>
          <a:p>
            <a:pPr marL="76200" indent="0">
              <a:buNone/>
            </a:pPr>
            <a:endParaRPr lang="en-US" sz="2000" b="1" dirty="0">
              <a:latin typeface="Cambria"/>
              <a:ea typeface="Cambria"/>
            </a:endParaRPr>
          </a:p>
          <a:p>
            <a:pPr marL="76200" indent="0">
              <a:buNone/>
            </a:pPr>
            <a:endParaRPr lang="en-US" sz="2000" b="1" dirty="0">
              <a:latin typeface="Cambria"/>
              <a:ea typeface="Cambria"/>
            </a:endParaRPr>
          </a:p>
          <a:p>
            <a:pPr marL="76200" indent="0">
              <a:buNone/>
            </a:pPr>
            <a:endParaRPr lang="en-US" sz="2000" b="1" dirty="0">
              <a:latin typeface="Cambria"/>
              <a:ea typeface="Cambria"/>
            </a:endParaRPr>
          </a:p>
          <a:p>
            <a:pPr marL="76200" indent="0" algn="ctr">
              <a:buNone/>
            </a:pPr>
            <a:r>
              <a:rPr lang="en-US" sz="2000" b="1" dirty="0">
                <a:latin typeface="Cambria"/>
                <a:ea typeface="Cambria"/>
              </a:rPr>
              <a:t>    </a:t>
            </a:r>
            <a:r>
              <a:rPr lang="en-US" sz="2000" dirty="0">
                <a:latin typeface="Cambria"/>
                <a:ea typeface="Cambria"/>
              </a:rPr>
              <a:t>   Fig 2. Block Diagram</a:t>
            </a:r>
            <a:endParaRPr lang="en-US" sz="2000" dirty="0">
              <a:latin typeface="Cambria"/>
              <a:ea typeface="Cambria" panose="02040503050406030204" pitchFamily="18" charset="0"/>
            </a:endParaRPr>
          </a:p>
        </p:txBody>
      </p:sp>
      <p:pic>
        <p:nvPicPr>
          <p:cNvPr id="4" name="Picture 3">
            <a:extLst>
              <a:ext uri="{FF2B5EF4-FFF2-40B4-BE49-F238E27FC236}">
                <a16:creationId xmlns:a16="http://schemas.microsoft.com/office/drawing/2014/main" id="{4204EC2B-56D6-4643-8F42-8E5D011868A5}"/>
              </a:ext>
            </a:extLst>
          </p:cNvPr>
          <p:cNvPicPr>
            <a:picLocks noChangeAspect="1"/>
          </p:cNvPicPr>
          <p:nvPr/>
        </p:nvPicPr>
        <p:blipFill>
          <a:blip r:embed="rId2"/>
          <a:stretch>
            <a:fillRect/>
          </a:stretch>
        </p:blipFill>
        <p:spPr>
          <a:xfrm>
            <a:off x="1872506" y="1141801"/>
            <a:ext cx="8128000" cy="4214581"/>
          </a:xfrm>
          <a:prstGeom prst="rect">
            <a:avLst/>
          </a:prstGeom>
        </p:spPr>
      </p:pic>
    </p:spTree>
    <p:extLst>
      <p:ext uri="{BB962C8B-B14F-4D97-AF65-F5344CB8AC3E}">
        <p14:creationId xmlns:p14="http://schemas.microsoft.com/office/powerpoint/2010/main" val="3024793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D8D8-3533-FC4D-9344-97F4D281A4FE}"/>
              </a:ext>
            </a:extLst>
          </p:cNvPr>
          <p:cNvSpPr>
            <a:spLocks noGrp="1"/>
          </p:cNvSpPr>
          <p:nvPr>
            <p:ph type="title"/>
          </p:nvPr>
        </p:nvSpPr>
        <p:spPr/>
        <p:txBody>
          <a:bodyPr/>
          <a:lstStyle/>
          <a:p>
            <a:r>
              <a:rPr lang="en-GB" dirty="0"/>
              <a:t>Result</a:t>
            </a:r>
            <a:endParaRPr lang="en-GB">
              <a:latin typeface="Cambria"/>
            </a:endParaRPr>
          </a:p>
        </p:txBody>
      </p:sp>
      <p:sp>
        <p:nvSpPr>
          <p:cNvPr id="3" name="Text Placeholder 2">
            <a:extLst>
              <a:ext uri="{FF2B5EF4-FFF2-40B4-BE49-F238E27FC236}">
                <a16:creationId xmlns:a16="http://schemas.microsoft.com/office/drawing/2014/main" id="{46A81A66-B173-73D2-0C89-6BDB35F73436}"/>
              </a:ext>
            </a:extLst>
          </p:cNvPr>
          <p:cNvSpPr>
            <a:spLocks noGrp="1"/>
          </p:cNvSpPr>
          <p:nvPr>
            <p:ph type="body" idx="1"/>
          </p:nvPr>
        </p:nvSpPr>
        <p:spPr/>
        <p:txBody>
          <a:bodyPr>
            <a:normAutofit/>
          </a:bodyPr>
          <a:lstStyle/>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lgn="ctr">
              <a:buNone/>
            </a:pPr>
            <a:r>
              <a:rPr lang="en-GB" sz="2000" dirty="0">
                <a:latin typeface="Cambria"/>
              </a:rPr>
              <a:t>Fig 3.Result</a:t>
            </a:r>
            <a:endParaRPr lang="en-GB" dirty="0"/>
          </a:p>
        </p:txBody>
      </p:sp>
      <p:pic>
        <p:nvPicPr>
          <p:cNvPr id="4" name="Picture 3" descr="A graph showing different colored bars&#10;&#10;AI-generated content may be incorrect.">
            <a:extLst>
              <a:ext uri="{FF2B5EF4-FFF2-40B4-BE49-F238E27FC236}">
                <a16:creationId xmlns:a16="http://schemas.microsoft.com/office/drawing/2014/main" id="{4D42E1EA-FB56-9551-74CB-BCF6389B51E5}"/>
              </a:ext>
            </a:extLst>
          </p:cNvPr>
          <p:cNvPicPr>
            <a:picLocks noChangeAspect="1"/>
          </p:cNvPicPr>
          <p:nvPr/>
        </p:nvPicPr>
        <p:blipFill>
          <a:blip r:embed="rId2"/>
          <a:stretch>
            <a:fillRect/>
          </a:stretch>
        </p:blipFill>
        <p:spPr>
          <a:xfrm>
            <a:off x="1582674" y="1235583"/>
            <a:ext cx="8575548" cy="4130802"/>
          </a:xfrm>
          <a:prstGeom prst="rect">
            <a:avLst/>
          </a:prstGeom>
        </p:spPr>
      </p:pic>
    </p:spTree>
    <p:extLst>
      <p:ext uri="{BB962C8B-B14F-4D97-AF65-F5344CB8AC3E}">
        <p14:creationId xmlns:p14="http://schemas.microsoft.com/office/powerpoint/2010/main" val="3517598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5718B-2E44-2B34-3477-480220DDF066}"/>
              </a:ext>
            </a:extLst>
          </p:cNvPr>
          <p:cNvSpPr>
            <a:spLocks noGrp="1"/>
          </p:cNvSpPr>
          <p:nvPr>
            <p:ph type="title"/>
          </p:nvPr>
        </p:nvSpPr>
        <p:spPr/>
        <p:txBody>
          <a:bodyPr/>
          <a:lstStyle/>
          <a:p>
            <a:r>
              <a:rPr lang="en-GB" dirty="0">
                <a:latin typeface="Cambria"/>
              </a:rPr>
              <a:t>Result</a:t>
            </a:r>
          </a:p>
        </p:txBody>
      </p:sp>
      <p:sp>
        <p:nvSpPr>
          <p:cNvPr id="3" name="Text Placeholder 2">
            <a:extLst>
              <a:ext uri="{FF2B5EF4-FFF2-40B4-BE49-F238E27FC236}">
                <a16:creationId xmlns:a16="http://schemas.microsoft.com/office/drawing/2014/main" id="{C0C94863-1D40-81EE-BA01-1F5F25363C8E}"/>
              </a:ext>
            </a:extLst>
          </p:cNvPr>
          <p:cNvSpPr>
            <a:spLocks noGrp="1"/>
          </p:cNvSpPr>
          <p:nvPr>
            <p:ph type="body" idx="1"/>
          </p:nvPr>
        </p:nvSpPr>
        <p:spPr/>
        <p:txBody>
          <a:bodyPr>
            <a:normAutofit lnSpcReduction="10000"/>
          </a:bodyPr>
          <a:lstStyle/>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dirty="0"/>
          </a:p>
          <a:p>
            <a:pPr marL="76200" indent="0">
              <a:buNone/>
            </a:pPr>
            <a:endParaRPr lang="en-GB" sz="2000" dirty="0">
              <a:latin typeface="Cambria"/>
            </a:endParaRPr>
          </a:p>
          <a:p>
            <a:pPr marL="76200" indent="0" algn="ctr">
              <a:buNone/>
            </a:pPr>
            <a:r>
              <a:rPr lang="en-GB" sz="2000" dirty="0">
                <a:latin typeface="Cambria"/>
              </a:rPr>
              <a:t>Fig 4.Result</a:t>
            </a:r>
            <a:endParaRPr lang="en-GB" dirty="0"/>
          </a:p>
        </p:txBody>
      </p:sp>
      <p:pic>
        <p:nvPicPr>
          <p:cNvPr id="4" name="Picture 3" descr="A screenshot of a screen&#10;&#10;AI-generated content may be incorrect.">
            <a:extLst>
              <a:ext uri="{FF2B5EF4-FFF2-40B4-BE49-F238E27FC236}">
                <a16:creationId xmlns:a16="http://schemas.microsoft.com/office/drawing/2014/main" id="{9D986F65-B9A8-4945-528C-A30B91BC7CDB}"/>
              </a:ext>
            </a:extLst>
          </p:cNvPr>
          <p:cNvPicPr>
            <a:picLocks noChangeAspect="1"/>
          </p:cNvPicPr>
          <p:nvPr/>
        </p:nvPicPr>
        <p:blipFill>
          <a:blip r:embed="rId2"/>
          <a:stretch>
            <a:fillRect/>
          </a:stretch>
        </p:blipFill>
        <p:spPr>
          <a:xfrm>
            <a:off x="1104900" y="1304544"/>
            <a:ext cx="9762744" cy="3822192"/>
          </a:xfrm>
          <a:prstGeom prst="rect">
            <a:avLst/>
          </a:prstGeom>
        </p:spPr>
      </p:pic>
    </p:spTree>
    <p:extLst>
      <p:ext uri="{BB962C8B-B14F-4D97-AF65-F5344CB8AC3E}">
        <p14:creationId xmlns:p14="http://schemas.microsoft.com/office/powerpoint/2010/main" val="3216488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1A226-42C9-BD05-D80E-F38EE9571ECD}"/>
              </a:ext>
            </a:extLst>
          </p:cNvPr>
          <p:cNvSpPr>
            <a:spLocks noGrp="1"/>
          </p:cNvSpPr>
          <p:nvPr>
            <p:ph type="title"/>
          </p:nvPr>
        </p:nvSpPr>
        <p:spPr/>
        <p:txBody>
          <a:bodyPr/>
          <a:lstStyle/>
          <a:p>
            <a:r>
              <a:rPr lang="en-GB" dirty="0">
                <a:latin typeface="Cambria"/>
              </a:rPr>
              <a:t>Result</a:t>
            </a:r>
          </a:p>
        </p:txBody>
      </p:sp>
      <p:sp>
        <p:nvSpPr>
          <p:cNvPr id="3" name="Text Placeholder 2">
            <a:extLst>
              <a:ext uri="{FF2B5EF4-FFF2-40B4-BE49-F238E27FC236}">
                <a16:creationId xmlns:a16="http://schemas.microsoft.com/office/drawing/2014/main" id="{6F03EF7D-085C-189D-9281-DF357B76DC6C}"/>
              </a:ext>
            </a:extLst>
          </p:cNvPr>
          <p:cNvSpPr>
            <a:spLocks noGrp="1"/>
          </p:cNvSpPr>
          <p:nvPr>
            <p:ph type="body" idx="1"/>
          </p:nvPr>
        </p:nvSpPr>
        <p:spPr/>
        <p:txBody>
          <a:bodyPr>
            <a:normAutofit lnSpcReduction="10000"/>
          </a:bodyPr>
          <a:lstStyle/>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lgn="ctr">
              <a:buNone/>
            </a:pPr>
            <a:r>
              <a:rPr lang="en-GB" sz="2000" dirty="0">
                <a:latin typeface="Cambria"/>
              </a:rPr>
              <a:t>Fig 5.Result</a:t>
            </a:r>
            <a:endParaRPr lang="en-GB" dirty="0"/>
          </a:p>
        </p:txBody>
      </p:sp>
      <p:pic>
        <p:nvPicPr>
          <p:cNvPr id="4" name="Picture 3" descr="A diagram of water quality&#10;&#10;AI-generated content may be incorrect.">
            <a:extLst>
              <a:ext uri="{FF2B5EF4-FFF2-40B4-BE49-F238E27FC236}">
                <a16:creationId xmlns:a16="http://schemas.microsoft.com/office/drawing/2014/main" id="{3541539E-13BD-8A25-F204-ED3E8DAB31D4}"/>
              </a:ext>
            </a:extLst>
          </p:cNvPr>
          <p:cNvPicPr>
            <a:picLocks noChangeAspect="1"/>
          </p:cNvPicPr>
          <p:nvPr/>
        </p:nvPicPr>
        <p:blipFill>
          <a:blip r:embed="rId2"/>
          <a:srcRect t="5547" r="62"/>
          <a:stretch>
            <a:fillRect/>
          </a:stretch>
        </p:blipFill>
        <p:spPr>
          <a:xfrm>
            <a:off x="974065" y="1231392"/>
            <a:ext cx="9872027" cy="3944114"/>
          </a:xfrm>
          <a:prstGeom prst="rect">
            <a:avLst/>
          </a:prstGeom>
        </p:spPr>
      </p:pic>
    </p:spTree>
    <p:extLst>
      <p:ext uri="{BB962C8B-B14F-4D97-AF65-F5344CB8AC3E}">
        <p14:creationId xmlns:p14="http://schemas.microsoft.com/office/powerpoint/2010/main" val="3054080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C3D0-6525-8407-2012-62ECE90A6AA3}"/>
              </a:ext>
            </a:extLst>
          </p:cNvPr>
          <p:cNvSpPr>
            <a:spLocks noGrp="1"/>
          </p:cNvSpPr>
          <p:nvPr>
            <p:ph type="title"/>
          </p:nvPr>
        </p:nvSpPr>
        <p:spPr/>
        <p:txBody>
          <a:bodyPr/>
          <a:lstStyle/>
          <a:p>
            <a:r>
              <a:rPr lang="en-GB" dirty="0">
                <a:latin typeface="Cambria"/>
              </a:rPr>
              <a:t>Conclusion</a:t>
            </a:r>
          </a:p>
        </p:txBody>
      </p:sp>
      <p:sp>
        <p:nvSpPr>
          <p:cNvPr id="3" name="Text Placeholder 2">
            <a:extLst>
              <a:ext uri="{FF2B5EF4-FFF2-40B4-BE49-F238E27FC236}">
                <a16:creationId xmlns:a16="http://schemas.microsoft.com/office/drawing/2014/main" id="{09335C7F-24C4-3C8F-0CDE-39C2B12F41D9}"/>
              </a:ext>
            </a:extLst>
          </p:cNvPr>
          <p:cNvSpPr>
            <a:spLocks noGrp="1"/>
          </p:cNvSpPr>
          <p:nvPr>
            <p:ph type="body" idx="1"/>
          </p:nvPr>
        </p:nvSpPr>
        <p:spPr/>
        <p:txBody>
          <a:bodyPr>
            <a:normAutofit/>
          </a:bodyPr>
          <a:lstStyle/>
          <a:p>
            <a:pPr algn="just">
              <a:buNone/>
            </a:pPr>
            <a:r>
              <a:rPr lang="en-GB" sz="2000" dirty="0">
                <a:latin typeface="Cambria"/>
              </a:rPr>
              <a:t>The project aligns with global sustainability goals, particularly</a:t>
            </a:r>
            <a:endParaRPr lang="en-US" sz="2000" dirty="0">
              <a:latin typeface="Cambria"/>
            </a:endParaRPr>
          </a:p>
          <a:p>
            <a:pPr algn="just">
              <a:buNone/>
            </a:pPr>
            <a:r>
              <a:rPr lang="en-GB" sz="2000" dirty="0">
                <a:latin typeface="Cambria"/>
              </a:rPr>
              <a:t>SDG 6 (Clean Water and Sanitation) and SDG 12 (Responsible Consumption and Production),</a:t>
            </a:r>
            <a:endParaRPr lang="en-US" sz="2000" dirty="0">
              <a:latin typeface="Cambria"/>
            </a:endParaRPr>
          </a:p>
          <a:p>
            <a:pPr algn="just">
              <a:buNone/>
            </a:pPr>
            <a:r>
              <a:rPr lang="en-GB" sz="2000" dirty="0">
                <a:latin typeface="Cambria"/>
              </a:rPr>
              <a:t>promoting environmental responsibility at the individual and community </a:t>
            </a:r>
            <a:r>
              <a:rPr lang="en-GB" sz="2000" dirty="0" err="1">
                <a:latin typeface="Cambria"/>
              </a:rPr>
              <a:t>levels.Future</a:t>
            </a:r>
            <a:endParaRPr lang="en-US" sz="2000" dirty="0">
              <a:latin typeface="Cambria"/>
            </a:endParaRPr>
          </a:p>
          <a:p>
            <a:pPr algn="just">
              <a:buNone/>
            </a:pPr>
            <a:r>
              <a:rPr lang="en-GB" sz="2000" dirty="0">
                <a:latin typeface="Cambria"/>
              </a:rPr>
              <a:t>enhancements may include integrating AI for predictive analytics, expanding real-time IoT</a:t>
            </a:r>
            <a:endParaRPr lang="en-US" sz="2000" dirty="0">
              <a:latin typeface="Cambria"/>
            </a:endParaRPr>
          </a:p>
          <a:p>
            <a:pPr algn="just">
              <a:buNone/>
            </a:pPr>
            <a:r>
              <a:rPr lang="en-GB" sz="2000" dirty="0">
                <a:latin typeface="Cambria"/>
              </a:rPr>
              <a:t>monitoring, adding region-specific datasets, and collaborating with environmental</a:t>
            </a:r>
            <a:endParaRPr lang="en-US" sz="2000" dirty="0">
              <a:latin typeface="Cambria"/>
            </a:endParaRPr>
          </a:p>
          <a:p>
            <a:pPr algn="just">
              <a:buNone/>
            </a:pPr>
            <a:r>
              <a:rPr lang="en-GB" sz="2000" dirty="0">
                <a:latin typeface="Cambria"/>
              </a:rPr>
              <a:t>organizations to make the tool widely accessible. Overall, this project provides a scalable and </a:t>
            </a:r>
            <a:endParaRPr lang="en-US" sz="2000" dirty="0">
              <a:latin typeface="Cambria"/>
            </a:endParaRPr>
          </a:p>
          <a:p>
            <a:pPr algn="just">
              <a:buNone/>
            </a:pPr>
            <a:r>
              <a:rPr lang="en-GB" sz="2000" dirty="0">
                <a:latin typeface="Cambria"/>
              </a:rPr>
              <a:t>impactful solution for encouraging water-smart lifestyles through  the use of digital technology.</a:t>
            </a:r>
            <a:endParaRPr lang="en-US" sz="2000" dirty="0">
              <a:latin typeface="Cambria"/>
            </a:endParaRPr>
          </a:p>
          <a:p>
            <a:pPr algn="just">
              <a:buNone/>
            </a:pPr>
            <a:r>
              <a:rPr lang="en-GB" sz="2000" dirty="0">
                <a:latin typeface="Cambria"/>
              </a:rPr>
              <a:t>The implementation of the digital water footprint calculation system successfully meets the</a:t>
            </a:r>
          </a:p>
          <a:p>
            <a:pPr algn="just">
              <a:buNone/>
            </a:pPr>
            <a:r>
              <a:rPr lang="en-GB" sz="2000" dirty="0">
                <a:latin typeface="Cambria"/>
              </a:rPr>
              <a:t>objectives of promoting awareness, simplifying complex calculations, and enabling users to</a:t>
            </a:r>
            <a:endParaRPr lang="en-GB" dirty="0"/>
          </a:p>
          <a:p>
            <a:pPr algn="just">
              <a:buNone/>
            </a:pPr>
            <a:r>
              <a:rPr lang="en-GB" sz="2000" dirty="0">
                <a:latin typeface="Cambria"/>
              </a:rPr>
              <a:t>make informed decisions about their daily water consumption.</a:t>
            </a:r>
            <a:endParaRPr lang="en-GB" dirty="0"/>
          </a:p>
          <a:p>
            <a:pPr algn="just">
              <a:buNone/>
            </a:pPr>
            <a:br>
              <a:rPr lang="en-US" dirty="0"/>
            </a:br>
            <a:endParaRPr lang="en-US" sz="2000" dirty="0">
              <a:latin typeface="Cambria"/>
            </a:endParaRPr>
          </a:p>
          <a:p>
            <a:pPr marL="76200" indent="0">
              <a:buNone/>
            </a:pPr>
            <a:endParaRPr lang="en-GB" dirty="0"/>
          </a:p>
        </p:txBody>
      </p:sp>
    </p:spTree>
    <p:extLst>
      <p:ext uri="{BB962C8B-B14F-4D97-AF65-F5344CB8AC3E}">
        <p14:creationId xmlns:p14="http://schemas.microsoft.com/office/powerpoint/2010/main" val="451779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E7BB2-E8E2-F7C0-0A71-E09CEEE5667E}"/>
              </a:ext>
            </a:extLst>
          </p:cNvPr>
          <p:cNvSpPr>
            <a:spLocks noGrp="1"/>
          </p:cNvSpPr>
          <p:nvPr>
            <p:ph type="title"/>
          </p:nvPr>
        </p:nvSpPr>
        <p:spPr/>
        <p:txBody>
          <a:bodyPr/>
          <a:lstStyle/>
          <a:p>
            <a:br>
              <a:rPr lang="en-GB" b="0" dirty="0"/>
            </a:br>
            <a:r>
              <a:rPr lang="en-GB" dirty="0">
                <a:latin typeface="Cambria"/>
              </a:rPr>
              <a:t>TimeLine (Gantt Chart)</a:t>
            </a:r>
            <a:endParaRPr lang="en-US" dirty="0">
              <a:latin typeface="Cambria"/>
            </a:endParaRPr>
          </a:p>
          <a:p>
            <a:endParaRPr lang="en-GB" dirty="0"/>
          </a:p>
        </p:txBody>
      </p:sp>
      <p:sp>
        <p:nvSpPr>
          <p:cNvPr id="3" name="Text Placeholder 2">
            <a:extLst>
              <a:ext uri="{FF2B5EF4-FFF2-40B4-BE49-F238E27FC236}">
                <a16:creationId xmlns:a16="http://schemas.microsoft.com/office/drawing/2014/main" id="{B14D6828-ED97-EC62-F95F-1A9FAE47DC32}"/>
              </a:ext>
            </a:extLst>
          </p:cNvPr>
          <p:cNvSpPr>
            <a:spLocks noGrp="1"/>
          </p:cNvSpPr>
          <p:nvPr>
            <p:ph type="body" idx="1"/>
          </p:nvPr>
        </p:nvSpPr>
        <p:spPr/>
        <p:txBody>
          <a:bodyPr>
            <a:normAutofit/>
          </a:bodyPr>
          <a:lstStyle/>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buNone/>
            </a:pPr>
            <a:endParaRPr lang="en-GB" sz="2000" dirty="0">
              <a:latin typeface="Cambria"/>
            </a:endParaRPr>
          </a:p>
          <a:p>
            <a:pPr marL="76200" indent="0" algn="ctr">
              <a:buNone/>
            </a:pPr>
            <a:r>
              <a:rPr lang="en-GB" sz="2000" dirty="0">
                <a:latin typeface="Cambria"/>
              </a:rPr>
              <a:t>Fig 6. Gantt Chart</a:t>
            </a:r>
            <a:endParaRPr lang="en-US" sz="2000" dirty="0">
              <a:latin typeface="Cambria"/>
            </a:endParaRPr>
          </a:p>
        </p:txBody>
      </p:sp>
      <p:pic>
        <p:nvPicPr>
          <p:cNvPr id="4" name="Picture 3" descr="A graph showing different colored bars&#10;&#10;AI-generated content may be incorrect.">
            <a:extLst>
              <a:ext uri="{FF2B5EF4-FFF2-40B4-BE49-F238E27FC236}">
                <a16:creationId xmlns:a16="http://schemas.microsoft.com/office/drawing/2014/main" id="{FF1613A0-35F8-C7AD-1FEF-4B6D2E0F32C1}"/>
              </a:ext>
            </a:extLst>
          </p:cNvPr>
          <p:cNvPicPr>
            <a:picLocks noChangeAspect="1"/>
          </p:cNvPicPr>
          <p:nvPr/>
        </p:nvPicPr>
        <p:blipFill>
          <a:blip r:embed="rId2"/>
          <a:stretch>
            <a:fillRect/>
          </a:stretch>
        </p:blipFill>
        <p:spPr>
          <a:xfrm>
            <a:off x="1790700" y="1371600"/>
            <a:ext cx="8610600" cy="4114800"/>
          </a:xfrm>
          <a:prstGeom prst="rect">
            <a:avLst/>
          </a:prstGeom>
        </p:spPr>
      </p:pic>
    </p:spTree>
    <p:extLst>
      <p:ext uri="{BB962C8B-B14F-4D97-AF65-F5344CB8AC3E}">
        <p14:creationId xmlns:p14="http://schemas.microsoft.com/office/powerpoint/2010/main" val="3229954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FBC6368D-DC9F-CF28-F80E-04A459FCB622}"/>
              </a:ext>
            </a:extLst>
          </p:cNvPr>
          <p:cNvSpPr>
            <a:spLocks noGrp="1"/>
          </p:cNvSpPr>
          <p:nvPr>
            <p:ph type="body" idx="1"/>
          </p:nvPr>
        </p:nvSpPr>
        <p:spPr>
          <a:xfrm>
            <a:off x="929579" y="1031450"/>
            <a:ext cx="10551221" cy="5090787"/>
          </a:xfrm>
        </p:spPr>
        <p:txBody>
          <a:bodyPr>
            <a:normAutofit fontScale="25000" lnSpcReduction="20000"/>
          </a:bodyPr>
          <a:lstStyle/>
          <a:p>
            <a:pPr marL="76200" indent="0">
              <a:buNone/>
            </a:pPr>
            <a:r>
              <a:rPr lang="en-GB" b="1" u="sng" dirty="0">
                <a:solidFill>
                  <a:schemeClr val="accent1"/>
                </a:solidFill>
              </a:rPr>
              <a:t>
</a:t>
            </a:r>
            <a:r>
              <a:rPr lang="en-GB" sz="8000" dirty="0">
                <a:solidFill>
                  <a:schemeClr val="tx1"/>
                </a:solidFill>
                <a:latin typeface="Cambria" panose="02040503050406030204" pitchFamily="18" charset="0"/>
                <a:ea typeface="Cambria" panose="02040503050406030204" pitchFamily="18" charset="0"/>
              </a:rPr>
              <a:t>[1] A. Y. Hoekstra, A. K. Chapagain, M. M. Aldaya, and M. M. Mekonnen, Water Footprint</a:t>
            </a:r>
          </a:p>
          <a:p>
            <a:pPr marL="76200" indent="0">
              <a:buNone/>
            </a:pPr>
            <a:r>
              <a:rPr lang="en-GB" sz="8000" dirty="0">
                <a:solidFill>
                  <a:schemeClr val="tx1"/>
                </a:solidFill>
                <a:latin typeface="Cambria" panose="02040503050406030204" pitchFamily="18" charset="0"/>
                <a:ea typeface="Cambria" panose="02040503050406030204" pitchFamily="18" charset="0"/>
              </a:rPr>
              <a:t>Manual: State of the Art 2011, Water Footprint Network, 2011.</a:t>
            </a:r>
          </a:p>
          <a:p>
            <a:pPr marL="76200" indent="0">
              <a:buNone/>
            </a:pPr>
            <a:endParaRPr lang="en-GB" sz="8000" dirty="0">
              <a:solidFill>
                <a:schemeClr val="tx1"/>
              </a:solidFill>
              <a:latin typeface="Cambria" panose="02040503050406030204" pitchFamily="18" charset="0"/>
              <a:ea typeface="Cambria" panose="02040503050406030204" pitchFamily="18" charset="0"/>
            </a:endParaRPr>
          </a:p>
          <a:p>
            <a:pPr marL="76200" indent="0">
              <a:buNone/>
            </a:pPr>
            <a:r>
              <a:rPr lang="en-GB" sz="8000" dirty="0">
                <a:solidFill>
                  <a:schemeClr val="tx1"/>
                </a:solidFill>
                <a:latin typeface="Cambria" panose="02040503050406030204" pitchFamily="18" charset="0"/>
                <a:ea typeface="Cambria" panose="02040503050406030204" pitchFamily="18" charset="0"/>
              </a:rPr>
              <a:t>[2] J. Allan, Virtual Water: Tackling the Threat to Our Planet’s Most Precious Resource,</a:t>
            </a:r>
          </a:p>
          <a:p>
            <a:pPr marL="76200" indent="0">
              <a:buNone/>
            </a:pPr>
            <a:r>
              <a:rPr lang="en-GB" sz="8000" dirty="0">
                <a:solidFill>
                  <a:schemeClr val="tx1"/>
                </a:solidFill>
                <a:latin typeface="Cambria" panose="02040503050406030204" pitchFamily="18" charset="0"/>
                <a:ea typeface="Cambria" panose="02040503050406030204" pitchFamily="18" charset="0"/>
              </a:rPr>
              <a:t>London, U.K.: I.B. Tauris, 2011.</a:t>
            </a:r>
          </a:p>
          <a:p>
            <a:pPr marL="76200" indent="0">
              <a:buNone/>
            </a:pPr>
            <a:endParaRPr lang="en-GB" sz="8000" dirty="0">
              <a:solidFill>
                <a:schemeClr val="tx1"/>
              </a:solidFill>
              <a:latin typeface="Cambria" panose="02040503050406030204" pitchFamily="18" charset="0"/>
              <a:ea typeface="Cambria" panose="02040503050406030204" pitchFamily="18" charset="0"/>
            </a:endParaRPr>
          </a:p>
          <a:p>
            <a:pPr marL="76200" indent="0">
              <a:buNone/>
            </a:pPr>
            <a:r>
              <a:rPr lang="en-GB" sz="8000" dirty="0">
                <a:solidFill>
                  <a:schemeClr val="tx1"/>
                </a:solidFill>
                <a:latin typeface="Cambria" panose="02040503050406030204" pitchFamily="18" charset="0"/>
                <a:ea typeface="Cambria" panose="02040503050406030204" pitchFamily="18" charset="0"/>
              </a:rPr>
              <a:t>[3] M. M. Mekonnen and A. Y. Hoekstra, “The green, blue and grey water footprint of crops
and derived crop products,” Hydrol. Earth Syst. Sci., vol. 15, no. 5, pp. 1577–1600, May</a:t>
            </a:r>
          </a:p>
          <a:p>
            <a:pPr marL="76200" indent="0">
              <a:buNone/>
            </a:pPr>
            <a:r>
              <a:rPr lang="en-GB" sz="8000" dirty="0">
                <a:solidFill>
                  <a:schemeClr val="tx1"/>
                </a:solidFill>
                <a:latin typeface="Cambria" panose="02040503050406030204" pitchFamily="18" charset="0"/>
                <a:ea typeface="Cambria" panose="02040503050406030204" pitchFamily="18" charset="0"/>
              </a:rPr>
              <a:t>2011.</a:t>
            </a:r>
          </a:p>
          <a:p>
            <a:pPr marL="76200" indent="0">
              <a:buNone/>
            </a:pPr>
            <a:endParaRPr lang="en-GB" sz="8000" dirty="0">
              <a:solidFill>
                <a:schemeClr val="tx1"/>
              </a:solidFill>
              <a:latin typeface="Cambria" panose="02040503050406030204" pitchFamily="18" charset="0"/>
              <a:ea typeface="Cambria" panose="02040503050406030204" pitchFamily="18" charset="0"/>
            </a:endParaRPr>
          </a:p>
          <a:p>
            <a:pPr marL="76200" indent="0">
              <a:buNone/>
            </a:pPr>
            <a:r>
              <a:rPr lang="en-GB" sz="8000" dirty="0">
                <a:solidFill>
                  <a:schemeClr val="tx1"/>
                </a:solidFill>
                <a:latin typeface="Cambria" panose="02040503050406030204" pitchFamily="18" charset="0"/>
                <a:ea typeface="Cambria" panose="02040503050406030204" pitchFamily="18" charset="0"/>
              </a:rPr>
              <a:t>[4] L. Zhang, Y. Wang, and J. Li, “IoT-based water monitoring system for smart cities,” IEEE</a:t>
            </a:r>
          </a:p>
          <a:p>
            <a:pPr marL="76200" indent="0">
              <a:buNone/>
            </a:pPr>
            <a:r>
              <a:rPr lang="en-GB" sz="8000" dirty="0">
                <a:solidFill>
                  <a:schemeClr val="tx1"/>
                </a:solidFill>
                <a:latin typeface="Cambria" panose="02040503050406030204" pitchFamily="18" charset="0"/>
                <a:ea typeface="Cambria" panose="02040503050406030204" pitchFamily="18" charset="0"/>
              </a:rPr>
              <a:t>Sensors J., vol. 19, no. 12, pp. 4567–4575, Jun. 2019.</a:t>
            </a:r>
          </a:p>
          <a:p>
            <a:pPr marL="76200" indent="0">
              <a:buNone/>
            </a:pPr>
            <a:endParaRPr lang="en-GB" sz="8000" dirty="0">
              <a:solidFill>
                <a:schemeClr val="tx1"/>
              </a:solidFill>
              <a:latin typeface="Cambria" panose="02040503050406030204" pitchFamily="18" charset="0"/>
              <a:ea typeface="Cambria" panose="02040503050406030204" pitchFamily="18" charset="0"/>
            </a:endParaRPr>
          </a:p>
          <a:p>
            <a:pPr marL="76200" indent="0">
              <a:buNone/>
            </a:pPr>
            <a:r>
              <a:rPr lang="en-GB" sz="8000" dirty="0">
                <a:solidFill>
                  <a:schemeClr val="tx1"/>
                </a:solidFill>
                <a:latin typeface="Cambria" panose="02040503050406030204" pitchFamily="18" charset="0"/>
                <a:ea typeface="Cambria" panose="02040503050406030204" pitchFamily="18" charset="0"/>
              </a:rPr>
              <a:t>[5] R. Smith, J. Brown, and M. Green, “Digital tools for sustainability education,”</a:t>
            </a:r>
          </a:p>
          <a:p>
            <a:pPr marL="76200" indent="0">
              <a:buNone/>
            </a:pPr>
            <a:r>
              <a:rPr lang="en-GB" sz="8000" dirty="0">
                <a:solidFill>
                  <a:schemeClr val="tx1"/>
                </a:solidFill>
                <a:latin typeface="Cambria" panose="02040503050406030204" pitchFamily="18" charset="0"/>
                <a:ea typeface="Cambria" panose="02040503050406030204" pitchFamily="18" charset="0"/>
              </a:rPr>
              <a:t>Sustainability, vol. 12, no. 3, Art. No. 987, Feb. 2020.</a:t>
            </a:r>
          </a:p>
          <a:p>
            <a:pPr marL="76200" indent="0">
              <a:buNone/>
            </a:pPr>
            <a:r>
              <a:rPr lang="en-GB" sz="8000" dirty="0">
                <a:solidFill>
                  <a:schemeClr val="accent1"/>
                </a:solidFill>
                <a:latin typeface="Cambria" panose="02040503050406030204" pitchFamily="18" charset="0"/>
                <a:ea typeface="Cambria" panose="02040503050406030204" pitchFamily="18" charset="0"/>
              </a:rPr>
              <a:t>
</a:t>
            </a:r>
            <a:endParaRPr lang="en-GB" sz="8000" b="1" dirty="0">
              <a:solidFill>
                <a:schemeClr val="tx1"/>
              </a:solidFill>
              <a:latin typeface="Cambria" panose="02040503050406030204" pitchFamily="18" charset="0"/>
              <a:ea typeface="Cambria" panose="020405030504060302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C9128-2A94-2ED3-9F94-C50B84CE71D6}"/>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a:t>
            </a:r>
            <a:endParaRPr lang="en-US"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1C5E53EA-ECA7-0EFC-9AAC-687834D6690B}"/>
              </a:ext>
            </a:extLst>
          </p:cNvPr>
          <p:cNvSpPr>
            <a:spLocks noGrp="1"/>
          </p:cNvSpPr>
          <p:nvPr>
            <p:ph type="body" idx="1"/>
          </p:nvPr>
        </p:nvSpPr>
        <p:spPr>
          <a:xfrm>
            <a:off x="812800" y="868363"/>
            <a:ext cx="11171597" cy="5336157"/>
          </a:xfrm>
        </p:spPr>
        <p:txBody>
          <a:bodyPr>
            <a:noAutofit/>
          </a:bodyPr>
          <a:lstStyle/>
          <a:p>
            <a:pPr marL="76200" indent="0">
              <a:buNone/>
            </a:pPr>
            <a:r>
              <a:rPr lang="en-GB" sz="2000" dirty="0">
                <a:solidFill>
                  <a:schemeClr val="tx1"/>
                </a:solidFill>
                <a:latin typeface="Cambria" panose="02040503050406030204" pitchFamily="18" charset="0"/>
                <a:ea typeface="Cambria" panose="02040503050406030204" pitchFamily="18" charset="0"/>
              </a:rPr>
              <a:t>[6] P. Jones, S. Taylor, and K. Wilson, “Software architecture for environmental footprint</a:t>
            </a:r>
          </a:p>
          <a:p>
            <a:pPr marL="76200" indent="0">
              <a:buNone/>
            </a:pPr>
            <a:r>
              <a:rPr lang="en-GB" sz="2000" dirty="0">
                <a:solidFill>
                  <a:schemeClr val="tx1"/>
                </a:solidFill>
                <a:latin typeface="Cambria" panose="02040503050406030204" pitchFamily="18" charset="0"/>
                <a:ea typeface="Cambria" panose="02040503050406030204" pitchFamily="18" charset="0"/>
              </a:rPr>
              <a:t>calculation,” Environ. Model. Softw., vol. 45, pp. 1–10, Sep. 2013.</a:t>
            </a:r>
          </a:p>
          <a:p>
            <a:pPr marL="76200" indent="0">
              <a:buNone/>
            </a:pPr>
            <a:r>
              <a:rPr lang="en-GB" sz="2000" dirty="0">
                <a:solidFill>
                  <a:schemeClr val="tx1"/>
                </a:solidFill>
                <a:latin typeface="Cambria" panose="02040503050406030204" pitchFamily="18" charset="0"/>
                <a:ea typeface="Cambria" panose="02040503050406030204" pitchFamily="18" charset="0"/>
              </a:rPr>
              <a:t>
[7] T. Nguyen, H. Tran, and L. Pham, “Mobile app for water conservation awareness,” Int. J.</a:t>
            </a:r>
          </a:p>
          <a:p>
            <a:pPr marL="76200" indent="0">
              <a:buNone/>
            </a:pPr>
            <a:r>
              <a:rPr lang="en-GB" sz="2000" dirty="0">
                <a:solidFill>
                  <a:schemeClr val="tx1"/>
                </a:solidFill>
                <a:latin typeface="Cambria" panose="02040503050406030204" pitchFamily="18" charset="0"/>
                <a:ea typeface="Cambria" panose="02040503050406030204" pitchFamily="18" charset="0"/>
              </a:rPr>
              <a:t>Environ. Res., vol. 14, no. 2, pp. 123–134, Apr. 2020.</a:t>
            </a:r>
          </a:p>
          <a:p>
            <a:pPr marL="76200" indent="0">
              <a:buNone/>
            </a:pPr>
            <a:r>
              <a:rPr lang="en-GB" sz="2000" dirty="0">
                <a:solidFill>
                  <a:schemeClr val="tx1"/>
                </a:solidFill>
                <a:latin typeface="Cambria" panose="02040503050406030204" pitchFamily="18" charset="0"/>
                <a:ea typeface="Cambria" panose="02040503050406030204" pitchFamily="18" charset="0"/>
              </a:rPr>
              <a:t>
[8] K. Patel, S. Shah, and R. Desai, “Integration of IoT and databases for environmental</a:t>
            </a:r>
          </a:p>
          <a:p>
            <a:pPr marL="76200" indent="0">
              <a:buNone/>
            </a:pPr>
            <a:r>
              <a:rPr lang="en-GB" sz="2000" dirty="0">
                <a:solidFill>
                  <a:schemeClr val="tx1"/>
                </a:solidFill>
                <a:latin typeface="Cambria" panose="02040503050406030204" pitchFamily="18" charset="0"/>
                <a:ea typeface="Cambria" panose="02040503050406030204" pitchFamily="18" charset="0"/>
              </a:rPr>
              <a:t>monitoring,” IEEE Access, vol. 7, pp. 12345–12356, 2019.</a:t>
            </a:r>
          </a:p>
          <a:p>
            <a:pPr marL="76200" indent="0">
              <a:buNone/>
            </a:pPr>
            <a:r>
              <a:rPr lang="en-GB" sz="2000" dirty="0">
                <a:solidFill>
                  <a:schemeClr val="tx1"/>
                </a:solidFill>
                <a:latin typeface="Cambria"/>
                <a:ea typeface="Cambria"/>
              </a:rPr>
              <a:t>
</a:t>
            </a:r>
          </a:p>
        </p:txBody>
      </p:sp>
    </p:spTree>
    <p:extLst>
      <p:ext uri="{BB962C8B-B14F-4D97-AF65-F5344CB8AC3E}">
        <p14:creationId xmlns:p14="http://schemas.microsoft.com/office/powerpoint/2010/main" val="1411772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262</TotalTime>
  <Words>2206</Words>
  <Application>Microsoft Office PowerPoint</Application>
  <PresentationFormat>Widescreen</PresentationFormat>
  <Paragraphs>267</Paragraphs>
  <Slides>24</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Cambria</vt:lpstr>
      <vt:lpstr>Verdana</vt:lpstr>
      <vt:lpstr>Bioinformatics</vt:lpstr>
      <vt:lpstr>Use of Digital Technology to calculate water footprints
for different daily use items</vt:lpstr>
      <vt:lpstr> CONTENT </vt:lpstr>
      <vt:lpstr>Problem Statement </vt:lpstr>
      <vt:lpstr>Abstract </vt:lpstr>
      <vt:lpstr>Literature Survey </vt:lpstr>
      <vt:lpstr>Literature Review</vt:lpstr>
      <vt:lpstr> OBJECTIVES:</vt:lpstr>
      <vt:lpstr>Existing Methods and Drawbacks </vt:lpstr>
      <vt:lpstr>Existing Methods and Drawbacks</vt:lpstr>
      <vt:lpstr>Proposed Method &amp; Feasibility Study </vt:lpstr>
      <vt:lpstr>Proposed Method &amp; Feasibility Study </vt:lpstr>
      <vt:lpstr>Modules </vt:lpstr>
      <vt:lpstr>Modules </vt:lpstr>
      <vt:lpstr>Modules </vt:lpstr>
      <vt:lpstr>Architecture</vt:lpstr>
      <vt:lpstr>Architecture </vt:lpstr>
      <vt:lpstr>Result</vt:lpstr>
      <vt:lpstr>Result</vt:lpstr>
      <vt:lpstr>Result</vt:lpstr>
      <vt:lpstr>Conclusion</vt:lpstr>
      <vt:lpstr> TimeLine (Gantt Chart) </vt:lpstr>
      <vt:lpstr>References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Mounika Bathina</cp:lastModifiedBy>
  <cp:revision>536</cp:revision>
  <dcterms:modified xsi:type="dcterms:W3CDTF">2025-12-02T10:21:59Z</dcterms:modified>
</cp:coreProperties>
</file>